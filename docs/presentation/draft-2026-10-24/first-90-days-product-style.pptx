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5d69d6136ca4cf3" /><Relationship Type="http://schemas.openxmlformats.org/officeDocument/2006/relationships/extended-properties" Target="/docProps/app.xml" Id="R5b380bca3ec444ce" /><Relationship Type="http://schemas.openxmlformats.org/officeDocument/2006/relationships/officeDocument" Target="/ppt/presentation.xml" Id="Rf6b6e2b33efc4b44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7f23239784b04331"/>
  </p:sldMasterIdLst>
  <p:notesMasterIdLst>
    <p:notesMasterId xmlns:r="http://schemas.openxmlformats.org/officeDocument/2006/relationships" r:id="Rb1f3ab00531045f6"/>
  </p:notesMasterIdLst>
  <p:sldIdLst>
    <p:sldId xmlns:r="http://schemas.openxmlformats.org/officeDocument/2006/relationships" id="256" r:id="R41f128dea1d14283"/>
    <p:sldId xmlns:r="http://schemas.openxmlformats.org/officeDocument/2006/relationships" id="257" r:id="Rdc497cae104249f2"/>
    <p:sldId xmlns:r="http://schemas.openxmlformats.org/officeDocument/2006/relationships" id="258" r:id="R5977e9a138604ac1"/>
    <p:sldId xmlns:r="http://schemas.openxmlformats.org/officeDocument/2006/relationships" id="259" r:id="R1d22c59baba84556"/>
    <p:sldId xmlns:r="http://schemas.openxmlformats.org/officeDocument/2006/relationships" id="260" r:id="Rd5d2d0827d5c4782"/>
    <p:sldId xmlns:r="http://schemas.openxmlformats.org/officeDocument/2006/relationships" id="261" r:id="Red3f2ad9465c4417"/>
    <p:sldId xmlns:r="http://schemas.openxmlformats.org/officeDocument/2006/relationships" id="262" r:id="R91a4d92bca9f4afd"/>
    <p:sldId xmlns:r="http://schemas.openxmlformats.org/officeDocument/2006/relationships" id="263" r:id="Rdf47490e43d44a96"/>
    <p:sldId xmlns:r="http://schemas.openxmlformats.org/officeDocument/2006/relationships" id="264" r:id="R0f35aa2cb54f48ec"/>
    <p:sldId xmlns:r="http://schemas.openxmlformats.org/officeDocument/2006/relationships" id="265" r:id="R499b90fbcc91428a"/>
    <p:sldId xmlns:r="http://schemas.openxmlformats.org/officeDocument/2006/relationships" id="266" r:id="R8d8a809c68b04b06"/>
    <p:sldId xmlns:r="http://schemas.openxmlformats.org/officeDocument/2006/relationships" id="267" r:id="Re8c9224f227e459e"/>
    <p:sldId xmlns:r="http://schemas.openxmlformats.org/officeDocument/2006/relationships" id="268" r:id="Rea6515cdfe484176"/>
    <p:sldId xmlns:r="http://schemas.openxmlformats.org/officeDocument/2006/relationships" id="269" r:id="R0163e2c6eeb24198"/>
  </p:sldIdLst>
  <p:sldSz cx="12192000" cy="6858000"/>
  <p:notesSz cx="6858000" cy="9144000"/>
  <p:embeddedFontLst>
    <p:embeddedFont>
      <p:font typeface="Tektur"/>
      <p:bold xmlns:r="http://schemas.openxmlformats.org/officeDocument/2006/relationships" r:id="R1ae914d87dee492f"/>
    </p:embeddedFont>
    <p:embeddedFont>
      <p:font typeface="PT Sans"/>
      <p:regular xmlns:r="http://schemas.openxmlformats.org/officeDocument/2006/relationships" r:id="R44181a03aae048fd"/>
      <p:bold xmlns:r="http://schemas.openxmlformats.org/officeDocument/2006/relationships" r:id="R2848fc8e5b814251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9d29097fdcf497f" /><Relationship Type="http://schemas.openxmlformats.org/officeDocument/2006/relationships/slideMaster" Target="/ppt/slideMasters/slideMaster1.xml" Id="R7f23239784b04331" /><Relationship Type="http://schemas.openxmlformats.org/officeDocument/2006/relationships/notesMaster" Target="/ppt/notesMasters/notesMaster1.xml" Id="Rb1f3ab00531045f6" /><Relationship Type="http://schemas.openxmlformats.org/officeDocument/2006/relationships/presProps" Target="/ppt/presProps.xml" Id="R9a958ee68b3f4513" /><Relationship Type="http://schemas.openxmlformats.org/officeDocument/2006/relationships/tableStyles" Target="/ppt/tableStyles.xml" Id="R6cd064b5f17a499c" /><Relationship Type="http://schemas.openxmlformats.org/officeDocument/2006/relationships/font" Target="/ppt/fonts/font.dat" Id="R1ae914d87dee492f" /><Relationship Type="http://schemas.openxmlformats.org/officeDocument/2006/relationships/font" Target="/ppt/fonts/font2.dat" Id="R44181a03aae048fd" /><Relationship Type="http://schemas.openxmlformats.org/officeDocument/2006/relationships/font" Target="/ppt/fonts/font3.dat" Id="R2848fc8e5b814251" /><Relationship Type="http://schemas.openxmlformats.org/officeDocument/2006/relationships/slide" Target="/ppt/slides/slide1.xml" Id="R41f128dea1d14283" /><Relationship Type="http://schemas.openxmlformats.org/officeDocument/2006/relationships/slide" Target="/ppt/slides/slide2.xml" Id="Rdc497cae104249f2" /><Relationship Type="http://schemas.openxmlformats.org/officeDocument/2006/relationships/slide" Target="/ppt/slides/slide3.xml" Id="R5977e9a138604ac1" /><Relationship Type="http://schemas.openxmlformats.org/officeDocument/2006/relationships/slide" Target="/ppt/slides/slide4.xml" Id="R1d22c59baba84556" /><Relationship Type="http://schemas.openxmlformats.org/officeDocument/2006/relationships/slide" Target="/ppt/slides/slide5.xml" Id="Rd5d2d0827d5c4782" /><Relationship Type="http://schemas.openxmlformats.org/officeDocument/2006/relationships/slide" Target="/ppt/slides/slide6.xml" Id="Red3f2ad9465c4417" /><Relationship Type="http://schemas.openxmlformats.org/officeDocument/2006/relationships/slide" Target="/ppt/slides/slide7.xml" Id="R91a4d92bca9f4afd" /><Relationship Type="http://schemas.openxmlformats.org/officeDocument/2006/relationships/slide" Target="/ppt/slides/slide8.xml" Id="Rdf47490e43d44a96" /><Relationship Type="http://schemas.openxmlformats.org/officeDocument/2006/relationships/slide" Target="/ppt/slides/slide9.xml" Id="R0f35aa2cb54f48ec" /><Relationship Type="http://schemas.openxmlformats.org/officeDocument/2006/relationships/slide" Target="/ppt/slides/slide10.xml" Id="R499b90fbcc91428a" /><Relationship Type="http://schemas.openxmlformats.org/officeDocument/2006/relationships/slide" Target="/ppt/slides/slide11.xml" Id="R8d8a809c68b04b06" /><Relationship Type="http://schemas.openxmlformats.org/officeDocument/2006/relationships/slide" Target="/ppt/slides/slide12.xml" Id="Re8c9224f227e459e" /><Relationship Type="http://schemas.openxmlformats.org/officeDocument/2006/relationships/slide" Target="/ppt/slides/slide13.xml" Id="Rea6515cdfe484176" /><Relationship Type="http://schemas.openxmlformats.org/officeDocument/2006/relationships/slide" Target="/ppt/slides/slide14.xml" Id="R0163e2c6eeb2419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9effab2a4dc4c2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6ecfa62e2384a59" /><Relationship Type="http://schemas.openxmlformats.org/officeDocument/2006/relationships/notesMaster" Target="/ppt/notesMasters/notesMaster1.xml" Id="Re998569ddbbb462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77bfc5d10ea4f9e" /><Relationship Type="http://schemas.openxmlformats.org/officeDocument/2006/relationships/notesMaster" Target="/ppt/notesMasters/notesMaster1.xml" Id="R52c17264789548e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c0ab3da964450d" /><Relationship Type="http://schemas.openxmlformats.org/officeDocument/2006/relationships/notesMaster" Target="/ppt/notesMasters/notesMaster1.xml" Id="R550b59d4c4d24d4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07865332274a22" /><Relationship Type="http://schemas.openxmlformats.org/officeDocument/2006/relationships/notesMaster" Target="/ppt/notesMasters/notesMaster1.xml" Id="Raa067e59e0f0485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483771a92784814" /><Relationship Type="http://schemas.openxmlformats.org/officeDocument/2006/relationships/notesMaster" Target="/ppt/notesMasters/notesMaster1.xml" Id="R1180183014d242d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ad18510e8ff4197" /><Relationship Type="http://schemas.openxmlformats.org/officeDocument/2006/relationships/notesMaster" Target="/ppt/notesMasters/notesMaster1.xml" Id="R657ce6ecf4384c1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b8e1204140d4795" /><Relationship Type="http://schemas.openxmlformats.org/officeDocument/2006/relationships/notesMaster" Target="/ppt/notesMasters/notesMaster1.xml" Id="R99db42157238431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f6fdc741c1a47fb" /><Relationship Type="http://schemas.openxmlformats.org/officeDocument/2006/relationships/notesMaster" Target="/ppt/notesMasters/notesMaster1.xml" Id="R2b95164a973d4dc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9635110d1264d0c" /><Relationship Type="http://schemas.openxmlformats.org/officeDocument/2006/relationships/notesMaster" Target="/ppt/notesMasters/notesMaster1.xml" Id="R739b9fdf89f14fe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d68d9358fef43a8" /><Relationship Type="http://schemas.openxmlformats.org/officeDocument/2006/relationships/notesMaster" Target="/ppt/notesMasters/notesMaster1.xml" Id="R3e97faa610844d5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9e423688a0c441f" /><Relationship Type="http://schemas.openxmlformats.org/officeDocument/2006/relationships/notesMaster" Target="/ppt/notesMasters/notesMaster1.xml" Id="Rb6c68e93ae80400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c290b7ce5bf4b28" /><Relationship Type="http://schemas.openxmlformats.org/officeDocument/2006/relationships/notesMaster" Target="/ppt/notesMasters/notesMaster1.xml" Id="Rf30a1ae42e5747e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2349f9f117f4828" /><Relationship Type="http://schemas.openxmlformats.org/officeDocument/2006/relationships/notesMaster" Target="/ppt/notesMasters/notesMaster1.xml" Id="R18bb4695e4e6458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bbfbcd40ac74879" /><Relationship Type="http://schemas.openxmlformats.org/officeDocument/2006/relationships/notesMaster" Target="/ppt/notesMasters/notesMaster1.xml" Id="R3d4e746c18de4ba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Не входит в семь минут. Бот: https://max.ru/t149_hakaton_max_bot. Репозиторий: https://github.com/M1hairu/MAX_GOATed_messenger. По HANDOFF.md на origin/main 1e623e5 на ВМ выкачен код 1761443, протокол 23.10.2026. Здесь не заявляется новый ручной прогон в мобильном и веб-MAX. Режим demo, учебные данные. Интеграций с МВД и внутренними системами вуза нет. Публичный HTTPS: https://81-26-178-75.sslip.io. Источник: HANDOFF.md и docs/verification-2026-10-23.md на 1e623e5.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0:00–0:30. У иностранного первокурсника уже есть дата начала занятий. Но ещё есть личные сроки обязательных процедур: их нужно связать со своей датой въезда и подготовить документы. «Первые 90 дней» помогают сделать этот шаг в MAX. Мы команда «ИИ в массы». Покажем, как студент получает личный план и что мы предлагаем проверить с вузом. Это собирательная ситуация, не интервью. Источники: docs/product/problem.md, mvp.md. Подача: arkhipov-pitch-guide.md, цель и аудитория.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0:30–1:15. Студенту нужно соединить несколько вещей: свою ситуацию, требования процедуры и срок от даты въезда. В исследовании открытых инструкций команда зафиксировала информационные расхождения. Мы выбрали конкретную точку помощи: превратить правила в личный план подготовки. Частота ошибок студентов пока не измерена; документальное исследование не выдаём за подтверждение спроса. Результат продукта покажем сейчас. Источники: docs/product/problem.md, as-is-to-be.md. Не приводим непроверенные штрафы и размеры рынка.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1:15–3:15. Первые 30 секунд объяснить: студент выбирает контекст и дату въезда, получает план, открывает карточку процедуры и видит подготовку и источник. Чат и мини-приложение используют одну сессию. Затем показ, плановый лимит 1:30: открыть заранее подготовленный учебный профиль, показать личную дату, карточку, отметку документа и включение напоминаний. Реплики: «Вот дата, рассчитанная по введённым данным. Здесь подготовка и основание. Включаем напоминания, чтобы вернуться к незавершённому шагу». Не ждать доставки молча и не изображать ускоренное время реальным интервалом. Не утверждать, что документы подаются в ведомство через бота. Если сбой — назвать его и использовать подписанный исторический экран. Это план тайминга, не выполненный прогон. Источники: docs/demo.md, src/core/deadlines.ts, src/bot/service.ts, docs/presentation/screens/app-card.jpg.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3:15–4:00. Эксперты предложили подумать о помощи ещё до поступления. Мы сделали первый шаг к более раннему сопровождению: в коде уже есть карточки до въезда по профилю вуза. Это подготовка к приезду, а не сервис выбора вуза или поступления. Следующее направление для исследования — выбор вуза, путь подачи и доступная поддержка. Для него сначала нужно проверить потребность и существующие официальные каналы, затем согласовать объём с вузом. На слайде слева — реализованные карточки, справа — предложение развития. Источники: отзыв пользователя 24.10.2026, docs/product/pre-arrival-sources.md, D-045, src/data/universities/*.json. Предложение не означает изменение MVP и обещание этих функций к финалу.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4:00–4:40. Второе замечание экспертов — обосновать спрос. Сейчас у нас есть документальное исследование и реализованный сценарий. Это основание для гипотезы, но ещё не подтверждение востребованности. Поэтому следующий шаг — интервью с целевыми студентами и наблюдаемое сравнение подготовки по памятке и с продуктом. Результат должен показать, помогает ли именно личный план, без подсказок авторов. Пользователь подтвердил 24.10: новых интервью, ответов вузов и договорённостей о пилоте нет. Не заявляем, что отзыв жюри заменяет пользовательское исследование. Источники: docs/product/hypothesis.md, pilot.md, jury-feedback.md, #27.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4:40–5:15. Для студента результат конкретный: подготовка и личные даты в MAX. Для запуска предлагаем знакомый вузу канал: вставить ссылку в письмо о зачислении. Такой блок уже можно подготовить командой invite. Гипотезы для проверки — студент приходит в MAX до приезда, вуз получает меньше повторных вопросов. Партнёр пока не подтвердил этот канал, и приток пользователей мы не измеряли. Не обещаем регистрацию из любой страны и не называем непроверенные ограничения иностранных номеров. Источники: D-065, D-066, src/invitation.ts. Из docs/product/scaling.md не переносим спорную черновую таблицу как утверждённую позицию.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5:15–5:50. Сильную сторону, которую отметили эксперты, мы сохранили: расчётное ядро отделено от данных. КФУ, ИТМО и СПбГЭУ описаны профилями. Общая логика расчёта и напоминаний остаётся, а инструкции, контакты и места проверяются для конкретного вуза. Это устройство продукта и данные по открытым источникам; перечисленные вузы не заявляем партнёрами. Перед запуском нужен ответственный сотрудник, который подтвердит профиль. Источники: docs/add-university.md, src/data/loadUniversities.ts, src/data/universities/*.json.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5:50–6:35. Метрики заданы до эксперимента. Сначала специалист проверяет правила и эталонные задания. Затем предлагаем десять–пятнадцать наблюдаемых сессий: сравнить памятку и продукт. Цели первого теста — не менее 80 процентов самостоятельного завершения, отсутствие критичных ошибок в контрольном наборе и снижение медианного времени минимум на 30 процентов без ухудшения правильности. Это заранее предложенные пороги, не достигнутые результаты. Если их не достигаем, меняем механику, а не переписываем критерий успеха задним числом. Партнёра и набора пока нет. Источники: docs/product/hypothesis.md, pilot.md.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6:35–7:00. «Первые 90 дней» помогают иностранному студенту превратить общие требования в свой план подготовки в MAX. Мы начали сопровождение до приезда и сохранили один основной сценарий после въезда. Следующий шаг — проверить пользу вместе с вузом. Готовы показать продукт и обсудить первый пилот. Спасибо, готовы к вопросам. Источники: docs/product/pilot.md, mvp.md. Запуск и партнёрство пока не подтверждены.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Для вопроса, как учли обратную связь. Три направления отзыва показаны явно. Не заявляем, что спрос подтверждён, поступление реализовано или структура жюри утвердила дизайн. Полный предоставленный текст и матрица ответа: docs/presentation/jury-feedback.md.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Рекомендацию о помощи до поступления учитываем как направление развития. Не превращаем её в обещание подбирать вузы, подавать документы или получать гранты. Сначала интервью, анализ действующих официальных каналов, проверка источников и партнёрского процесса, затем решение команды об объёме. Карточки до въезда — другая, уже реализованная часть. Источники: пользовательский отзыв, docs/presentation/jury-feedback.md, D-045.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Открывать по техническому вопросу. Архитектура: один Node.js-процесс, официальный SDK MAX, веб-интерфейс React, PostgreSQL. Срок рассчитывает явная функция по справочнику. MAX webhook и подписанные данные мини-приложения — реальные интеграции. Отметки о прохождении сообщает пользователь. Ведомственные статусы не читаем. При сетевой неопределённости возможен дубль сообщения; не обещать exactly-once. Источники: docs/architecture.md, src/main.ts, src/core/deadlines.ts, src/db/postgres-store.ts, src/bot/service.ts, src/webapp/initData.ts, 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Отвечать прямо. Правила сверяла команда, независимой юридической вычитки нет. На показе учебный профиль. Реальные пользователи требуют определения оператора и оснований обработки данных, а также проверки правил. MAX ID нельзя объявлять анонимным. Пользователь управляет напоминаниями и удалением профиля. Источники: README.md, docs/legal-review.md, docs/product/pilot.md, HANDOFF.md. Спрос и готовность платить не измерены. Студенту предлагаем бесплатный доступ; модель работы с вузом остаётся гипотезой.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b1faa75ebc44c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e3e783547e4fe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4db6785c46478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d62a2e9448419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d521e8a1cf4b2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b6feff65984bb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49A82BD-46FE-49C4-8911-0BEFA8A52B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E0C31CF-CEDD-4DDA-A4F2-4A364F64680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D24E339-7569-43BB-8C39-ED7D1EDAF7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29A4FE6-0EB2-4796-9A49-E04A0E2625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CE1318E-D24F-469E-B19E-D135DEC2D8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85C74CA-C8DD-4F16-A51E-597F164D27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0E970D-E3F9-49C6-AB07-BB23E528F3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09E2A15-4D91-4C1A-B87D-0463FA52D24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63210C7-F252-4EEB-A9CF-6E35473996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A7547EA-C1AB-472C-BB50-F3D384B9DA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090fe5dc594aeb" /><Relationship Type="http://schemas.openxmlformats.org/officeDocument/2006/relationships/slideLayout" Target="/ppt/slideLayouts/slideLayout1.xml" Id="R9bd9607fba53435c" /><Relationship Type="http://schemas.openxmlformats.org/officeDocument/2006/relationships/slideLayout" Target="/ppt/slideLayouts/slideLayout2.xml" Id="R0f59032ed03f4941" /><Relationship Type="http://schemas.openxmlformats.org/officeDocument/2006/relationships/slideLayout" Target="/ppt/slideLayouts/slideLayout3.xml" Id="Rc61eb3d90f564767" /><Relationship Type="http://schemas.openxmlformats.org/officeDocument/2006/relationships/slideLayout" Target="/ppt/slideLayouts/slideLayout4.xml" Id="Ra38bf67be8fc42a8" /><Relationship Type="http://schemas.openxmlformats.org/officeDocument/2006/relationships/slideLayout" Target="/ppt/slideLayouts/slideLayout5.xml" Id="R7708eb3b04dd47fe" /><Relationship Type="http://schemas.openxmlformats.org/officeDocument/2006/relationships/slideLayout" Target="/ppt/slideLayouts/slideLayout6.xml" Id="Rbd97ba54d36e4a8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d9607fba53435c"/>
    <p:sldLayoutId xmlns:r="http://schemas.openxmlformats.org/officeDocument/2006/relationships" id="2147483650" r:id="R0f59032ed03f4941"/>
    <p:sldLayoutId xmlns:r="http://schemas.openxmlformats.org/officeDocument/2006/relationships" id="2147483651" r:id="Rc61eb3d90f564767"/>
    <p:sldLayoutId xmlns:r="http://schemas.openxmlformats.org/officeDocument/2006/relationships" id="2147483652" r:id="Ra38bf67be8fc42a8"/>
    <p:sldLayoutId xmlns:r="http://schemas.openxmlformats.org/officeDocument/2006/relationships" id="2147483653" r:id="R7708eb3b04dd47fe"/>
    <p:sldLayoutId xmlns:r="http://schemas.openxmlformats.org/officeDocument/2006/relationships" id="2147483654" r:id="Rbd97ba54d36e4a8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1cd891c371462f" /><Relationship Type="http://schemas.openxmlformats.org/officeDocument/2006/relationships/hyperlink" Target="https://max.ru/t149_hakaton_max_bot" TargetMode="External" Id="Receca0b72ff14683" /><Relationship Type="http://schemas.openxmlformats.org/officeDocument/2006/relationships/notesSlide" Target="/ppt/notesSlides/notesSlide1.xml" Id="Rd731dec2ea3845f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0455666ce14530" /><Relationship Type="http://schemas.openxmlformats.org/officeDocument/2006/relationships/notesSlide" Target="/ppt/notesSlides/notesSlide2.xml" Id="Re001aca43d1f413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a25b4af3ad4b7f" /><Relationship Type="http://schemas.openxmlformats.org/officeDocument/2006/relationships/notesSlide" Target="/ppt/notesSlides/notesSlide3.xml" Id="Rc9215d1aece24d6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e2f04e1aad417f" /><Relationship Type="http://schemas.openxmlformats.org/officeDocument/2006/relationships/image" Target="/ppt/media/image.jpeg" Id="Re31ce2ecca074af8" /><Relationship Type="http://schemas.openxmlformats.org/officeDocument/2006/relationships/notesSlide" Target="/ppt/notesSlides/notesSlide4.xml" Id="Rf479278b8bad4a3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927ca264f34f91" /><Relationship Type="http://schemas.openxmlformats.org/officeDocument/2006/relationships/notesSlide" Target="/ppt/notesSlides/notesSlide5.xml" Id="R076a793b32b0483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b8382b5bb74ad1" /><Relationship Type="http://schemas.openxmlformats.org/officeDocument/2006/relationships/notesSlide" Target="/ppt/notesSlides/notesSlide6.xml" Id="Rfad472d4c2fb4af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54a6aa6bd64e02" /><Relationship Type="http://schemas.openxmlformats.org/officeDocument/2006/relationships/notesSlide" Target="/ppt/notesSlides/notesSlide7.xml" Id="R58100879b126421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0230aec1ed482e" /><Relationship Type="http://schemas.openxmlformats.org/officeDocument/2006/relationships/notesSlide" Target="/ppt/notesSlides/notesSlide8.xml" Id="R87e100002dad4b7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8a2500f8bd4825" /><Relationship Type="http://schemas.openxmlformats.org/officeDocument/2006/relationships/notesSlide" Target="/ppt/notesSlides/notesSlide9.xml" Id="R9f4cac6535c6412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a0063cc5ff40b7" /><Relationship Type="http://schemas.openxmlformats.org/officeDocument/2006/relationships/hyperlink" Target="https://max.ru/t149_hakaton_max_bot" TargetMode="External" Id="R5f3af52e95e44e9e" /><Relationship Type="http://schemas.openxmlformats.org/officeDocument/2006/relationships/notesSlide" Target="/ppt/notesSlides/notesSlide10.xml" Id="R1f2b40199d494de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920a75e9564494" /><Relationship Type="http://schemas.openxmlformats.org/officeDocument/2006/relationships/notesSlide" Target="/ppt/notesSlides/notesSlide11.xml" Id="R8190d5fdcd79476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063efa68774728" /><Relationship Type="http://schemas.openxmlformats.org/officeDocument/2006/relationships/notesSlide" Target="/ppt/notesSlides/notesSlide12.xml" Id="R40f51c80e412471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78c0bbbef04710" /><Relationship Type="http://schemas.openxmlformats.org/officeDocument/2006/relationships/notesSlide" Target="/ppt/notesSlides/notesSlide13.xml" Id="Rec21a8f2ec6e487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d5ddd6043945e9" /><Relationship Type="http://schemas.openxmlformats.org/officeDocument/2006/relationships/notesSlide" Target="/ppt/notesSlides/notesSlide14.xml" Id="R98ed822ac53e43b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1ECE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ПРОВЕРКА">
            <a:extLst xmlns:a="http://schemas.openxmlformats.org/drawingml/2006/main">
              <a:ext uri="{FF2B5EF4-FFF2-40B4-BE49-F238E27FC236}">
                <a16:creationId xmlns:a16="http://schemas.microsoft.com/office/drawing/2014/main" id="{C86FDAA1-52D3-46E2-ABB6-469D3D8BE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ПРОВЕРКА</a:t>
            </a:r>
          </a:p>
        </p:txBody>
      </p:sp>
      <p:sp>
        <p:nvSpPr>
          <p:cNvPr id="2" name="00">
            <a:extLst xmlns:a="http://schemas.openxmlformats.org/drawingml/2006/main">
              <a:ext uri="{FF2B5EF4-FFF2-40B4-BE49-F238E27FC236}">
                <a16:creationId xmlns:a16="http://schemas.microsoft.com/office/drawing/2014/main" id="{EA03AAAD-18E3-400B-8B65-36E8EEDA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7622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00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17C9CD-8B91-48FD-B254-3D8B722DB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4" name="ДОСТУП&#10;К ПРОДУКТУ">
            <a:extLst xmlns:a="http://schemas.openxmlformats.org/drawingml/2006/main">
              <a:ext uri="{FF2B5EF4-FFF2-40B4-BE49-F238E27FC236}">
                <a16:creationId xmlns:a16="http://schemas.microsoft.com/office/drawing/2014/main" id="{13E3A1F1-9B05-4285-9599-9FD40912A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95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427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ДОСТУП</a:t>
            </a:r>
          </a:p>
          <a:p xmlns:a="http://schemas.openxmlformats.org/drawingml/2006/main">
            <a: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427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К ПРОДУКТУ</a:t>
            </a:r>
          </a:p>
        </p:txBody>
      </p:sp>
      <p:sp>
        <p:nvSpPr>
          <p:cNvPr id="5" name="Демонстрационный режим, учебный профиль">
            <a:extLst xmlns:a="http://schemas.openxmlformats.org/drawingml/2006/main">
              <a:ext uri="{FF2B5EF4-FFF2-40B4-BE49-F238E27FC236}">
                <a16:creationId xmlns:a16="http://schemas.microsoft.com/office/drawing/2014/main" id="{72E68FA9-6A77-4703-946C-1D3EA413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5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5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5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5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5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5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5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5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5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55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Демонстрационный режим, учебный профиль</a:t>
            </a:r>
          </a:p>
        </p:txBody>
      </p:sp>
      <p:sp>
        <p:nvSpPr>
          <p:cNvPr id="6" name="max.ru/t149_hakaton_max_bot">
            <a:extLst xmlns:a="http://schemas.openxmlformats.org/drawingml/2006/main">
              <a:ext uri="{FF2B5EF4-FFF2-40B4-BE49-F238E27FC236}">
                <a16:creationId xmlns:a16="http://schemas.microsoft.com/office/drawing/2014/main" id="{8F9C56D7-F4BA-4BD6-915B-01293B09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B3151B"/>
                </a:solidFill>
                <a:latin typeface="PT Sans"/>
                <a:ea typeface="PT Sans"/>
                <a:cs typeface="PT Sans"/>
              </a:defRPr>
            </a:defPPr>
            <a:lvl1pPr>
              <a:defRPr sz="2025" b="0">
                <a:solidFill>
                  <a:srgbClr val="B3151B"/>
                </a:solidFill>
                <a:latin typeface="PT Sans"/>
                <a:ea typeface="PT Sans"/>
                <a:cs typeface="PT Sans"/>
              </a:defRPr>
            </a:lvl1pPr>
            <a:lvl2pPr>
              <a:defRPr sz="2025" b="0">
                <a:solidFill>
                  <a:srgbClr val="B3151B"/>
                </a:solidFill>
                <a:latin typeface="PT Sans"/>
                <a:ea typeface="PT Sans"/>
                <a:cs typeface="PT Sans"/>
              </a:defRPr>
            </a:lvl2pPr>
            <a:lvl3pPr>
              <a:defRPr sz="2025" b="0">
                <a:solidFill>
                  <a:srgbClr val="B3151B"/>
                </a:solidFill>
                <a:latin typeface="PT Sans"/>
                <a:ea typeface="PT Sans"/>
                <a:cs typeface="PT Sans"/>
              </a:defRPr>
            </a:lvl3pPr>
            <a:lvl4pPr>
              <a:defRPr sz="2025" b="0">
                <a:solidFill>
                  <a:srgbClr val="B3151B"/>
                </a:solidFill>
                <a:latin typeface="PT Sans"/>
                <a:ea typeface="PT Sans"/>
                <a:cs typeface="PT Sans"/>
              </a:defRPr>
            </a:lvl4pPr>
            <a:lvl5pPr>
              <a:defRPr sz="2025" b="0">
                <a:solidFill>
                  <a:srgbClr val="B3151B"/>
                </a:solidFill>
                <a:latin typeface="PT Sans"/>
                <a:ea typeface="PT Sans"/>
                <a:cs typeface="PT Sans"/>
              </a:defRPr>
            </a:lvl5pPr>
            <a:lvl6pPr>
              <a:defRPr sz="2025" b="0">
                <a:solidFill>
                  <a:srgbClr val="B3151B"/>
                </a:solidFill>
                <a:latin typeface="PT Sans"/>
                <a:ea typeface="PT Sans"/>
                <a:cs typeface="PT Sans"/>
              </a:defRPr>
            </a:lvl6pPr>
            <a:lvl7pPr>
              <a:defRPr sz="2025" b="0">
                <a:solidFill>
                  <a:srgbClr val="B3151B"/>
                </a:solidFill>
                <a:latin typeface="PT Sans"/>
                <a:ea typeface="PT Sans"/>
                <a:cs typeface="PT Sans"/>
              </a:defRPr>
            </a:lvl7pPr>
            <a:lvl8pPr>
              <a:defRPr sz="2025" b="0">
                <a:solidFill>
                  <a:srgbClr val="B3151B"/>
                </a:solidFill>
                <a:latin typeface="PT Sans"/>
                <a:ea typeface="PT Sans"/>
                <a:cs typeface="PT Sans"/>
              </a:defRPr>
            </a:lvl8pPr>
            <a:lvl9pPr>
              <a:defRPr sz="2025" b="0">
                <a:solidFill>
                  <a:srgbClr val="B3151B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B3151B"/>
                </a:solidFill>
                <a:latin typeface="PT Sans"/>
                <a:ea typeface="PT Sans"/>
                <a:cs typeface="PT Sans"/>
              </a:defRPr>
            </a:pPr>
            <a:r>
              <a:rPr sz="2025" b="0">
                <a:solidFill>
                  <a:srgbClr val="B3151B"/>
                </a:solidFill>
                <a:latin typeface="PT Sans"/>
                <a:ea typeface="PT Sans"/>
                <a:cs typeface="PT Sans"/>
                <a:hlinkClick xmlns:r="http://schemas.openxmlformats.org/officeDocument/2006/relationships" r:id="Receca0b72ff14683"/>
              </a:rPr>
              <a:t>max.ru/t149_hakaton_max_bot</a:t>
            </a:r>
          </a:p>
        </p:txBody>
      </p:sp>
      <p:sp>
        <p:nvSpPr>
          <p:cNvPr id="7" name="Код на ВМ по протоколу 23.10: 1761443&#10;Перед защитой нужен но">
            <a:extLst xmlns:a="http://schemas.openxmlformats.org/drawingml/2006/main">
              <a:ext uri="{FF2B5EF4-FFF2-40B4-BE49-F238E27FC236}">
                <a16:creationId xmlns:a16="http://schemas.microsoft.com/office/drawing/2014/main" id="{CFA137F1-D26F-4356-A609-C94420E5A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defPPr>
            <a:lvl1pPr>
              <a:defRPr sz="2100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1pPr>
            <a:lvl2pPr>
              <a:defRPr sz="2100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2pPr>
            <a:lvl3pPr>
              <a:defRPr sz="2100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3pPr>
            <a:lvl4pPr>
              <a:defRPr sz="2100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4pPr>
            <a:lvl5pPr>
              <a:defRPr sz="2100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5pPr>
            <a:lvl6pPr>
              <a:defRPr sz="2100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6pPr>
            <a:lvl7pPr>
              <a:defRPr sz="2100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7pPr>
            <a:lvl8pPr>
              <a:defRPr sz="2100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8pPr>
            <a:lvl9pPr>
              <a:defRPr sz="2100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pPr>
            <a:r>
              <a:rPr sz="2100" b="0">
                <a:solidFill>
                  <a:srgbClr val="6B675F"/>
                </a:solidFill>
                <a:latin typeface="PT Sans"/>
                <a:ea typeface="PT Sans"/>
                <a:cs typeface="PT Sans"/>
              </a:rPr>
              <a:t>Код на ВМ по протоколу 23.10: 1761443</a:t>
            </a:r>
          </a:p>
          <a:p xmlns:a="http://schemas.openxmlformats.org/drawingml/2006/main">
            <a:pPr>
              <a:defRPr sz="2100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pPr>
            <a:r>
              <a:rPr sz="2100" b="0">
                <a:solidFill>
                  <a:srgbClr val="6B675F"/>
                </a:solidFill>
                <a:latin typeface="PT Sans"/>
                <a:ea typeface="PT Sans"/>
                <a:cs typeface="PT Sans"/>
              </a:rPr>
              <a:t>Перед защитой нужен новый ручной прогон в MAX</a:t>
            </a:r>
          </a:p>
        </p:txBody>
      </p:sp>
    </p:spTree>
    <p:extLst>
      <p:ext uri="{BB962C8B-B14F-4D97-AF65-F5344CB8AC3E}">
        <p14:creationId xmlns:p14="http://schemas.microsoft.com/office/powerpoint/2010/main" val="20153183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ИИ В МАССЫ">
            <a:extLst xmlns:a="http://schemas.openxmlformats.org/drawingml/2006/main">
              <a:ext uri="{FF2B5EF4-FFF2-40B4-BE49-F238E27FC236}">
                <a16:creationId xmlns:a16="http://schemas.microsoft.com/office/drawing/2014/main" id="{5176B658-DFB5-4D1A-B5DB-7D3CF83A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F1ECE2"/>
                </a:solidFill>
                <a:latin typeface="Tektur"/>
                <a:ea typeface="Tektur"/>
                <a:cs typeface="Tektur"/>
              </a:rPr>
              <a:t>ИИ В МАССЫ</a:t>
            </a:r>
          </a:p>
        </p:txBody>
      </p:sp>
      <p:sp>
        <p:nvSpPr>
          <p:cNvPr id="2" name="01">
            <a:extLst xmlns:a="http://schemas.openxmlformats.org/drawingml/2006/main">
              <a:ext uri="{FF2B5EF4-FFF2-40B4-BE49-F238E27FC236}">
                <a16:creationId xmlns:a16="http://schemas.microsoft.com/office/drawing/2014/main" id="{3BA2A1F6-6EB9-4D05-B37B-5978A340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7622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F1ECE2"/>
                </a:solidFill>
                <a:latin typeface="Tektur"/>
                <a:ea typeface="Tektur"/>
                <a:cs typeface="Tektur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009A93-9186-4823-A15D-199122F8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151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D78FF7-5764-47DD-9E7E-2BB0BBE6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762000"/>
            <a:ext cx="4857750" cy="609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151B"/>
          </a:solidFill>
          <a:ln xmlns:a="http://schemas.openxmlformats.org/drawingml/2006/main" w="0">
            <a:noFill/>
          </a:ln>
        </p:spPr>
      </p:sp>
      <p:sp>
        <p:nvSpPr>
          <p:cNvPr id="5" name="ПЕРВЫЕ">
            <a:extLst xmlns:a="http://schemas.openxmlformats.org/drawingml/2006/main">
              <a:ext uri="{FF2B5EF4-FFF2-40B4-BE49-F238E27FC236}">
                <a16:creationId xmlns:a16="http://schemas.microsoft.com/office/drawing/2014/main" id="{E94AB747-A579-4DF2-9D19-4CF90933B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657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8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defPPr>
            <a:lvl1pPr>
              <a:defRPr sz="58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1pPr>
            <a:lvl2pPr>
              <a:defRPr sz="58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2pPr>
            <a:lvl3pPr>
              <a:defRPr sz="58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3pPr>
            <a:lvl4pPr>
              <a:defRPr sz="58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4pPr>
            <a:lvl5pPr>
              <a:defRPr sz="58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5pPr>
            <a:lvl6pPr>
              <a:defRPr sz="58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6pPr>
            <a:lvl7pPr>
              <a:defRPr sz="58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7pPr>
            <a:lvl8pPr>
              <a:defRPr sz="58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8pPr>
            <a:lvl9pPr>
              <a:defRPr sz="58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58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pPr>
            <a:r>
              <a:rPr sz="5850" b="1">
                <a:solidFill>
                  <a:srgbClr val="F1ECE2"/>
                </a:solidFill>
                <a:latin typeface="Tektur"/>
                <a:ea typeface="Tektur"/>
                <a:cs typeface="Tektur"/>
              </a:rPr>
              <a:t>ПЕРВЫЕ</a:t>
            </a:r>
          </a:p>
        </p:txBody>
      </p:sp>
      <p:sp>
        <p:nvSpPr>
          <p:cNvPr id="6" name="90">
            <a:extLst xmlns:a="http://schemas.openxmlformats.org/drawingml/2006/main">
              <a:ext uri="{FF2B5EF4-FFF2-40B4-BE49-F238E27FC236}">
                <a16:creationId xmlns:a16="http://schemas.microsoft.com/office/drawing/2014/main" id="{B3A424C8-3742-4242-AC63-C4714DD57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6667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defPPr>
            <a:lvl1pPr>
              <a:defRPr sz="202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1pPr>
            <a:lvl2pPr>
              <a:defRPr sz="202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2pPr>
            <a:lvl3pPr>
              <a:defRPr sz="202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3pPr>
            <a:lvl4pPr>
              <a:defRPr sz="202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4pPr>
            <a:lvl5pPr>
              <a:defRPr sz="202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5pPr>
            <a:lvl6pPr>
              <a:defRPr sz="202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6pPr>
            <a:lvl7pPr>
              <a:defRPr sz="202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7pPr>
            <a:lvl8pPr>
              <a:defRPr sz="202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8pPr>
            <a:lvl9pPr>
              <a:defRPr sz="202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202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pPr>
            <a:r>
              <a:rPr sz="20250" b="1">
                <a:solidFill>
                  <a:srgbClr val="F1ECE2"/>
                </a:solidFill>
                <a:latin typeface="Tektur"/>
                <a:ea typeface="Tektur"/>
                <a:cs typeface="Tektur"/>
              </a:rPr>
              <a:t>90</a:t>
            </a:r>
          </a:p>
        </p:txBody>
      </p:sp>
      <p:sp>
        <p:nvSpPr>
          <p:cNvPr id="7" name="ДНЕЙ">
            <a:extLst xmlns:a="http://schemas.openxmlformats.org/drawingml/2006/main">
              <a:ext uri="{FF2B5EF4-FFF2-40B4-BE49-F238E27FC236}">
                <a16:creationId xmlns:a16="http://schemas.microsoft.com/office/drawing/2014/main" id="{A2D3F562-6FC6-418E-8CC9-74108DE55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571750"/>
            <a:ext cx="4572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750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defPPr>
            <a:lvl1pPr>
              <a:defRPr sz="750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1pPr>
            <a:lvl2pPr>
              <a:defRPr sz="750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2pPr>
            <a:lvl3pPr>
              <a:defRPr sz="750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3pPr>
            <a:lvl4pPr>
              <a:defRPr sz="750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4pPr>
            <a:lvl5pPr>
              <a:defRPr sz="750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5pPr>
            <a:lvl6pPr>
              <a:defRPr sz="750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6pPr>
            <a:lvl7pPr>
              <a:defRPr sz="750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7pPr>
            <a:lvl8pPr>
              <a:defRPr sz="750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8pPr>
            <a:lvl9pPr>
              <a:defRPr sz="750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750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pPr>
            <a:r>
              <a:rPr sz="7500" b="1">
                <a:solidFill>
                  <a:srgbClr val="F1ECE2"/>
                </a:solidFill>
                <a:latin typeface="Tektur"/>
                <a:ea typeface="Tektur"/>
                <a:cs typeface="Tektur"/>
              </a:rPr>
              <a:t>ДНЕЙ</a:t>
            </a:r>
          </a:p>
        </p:txBody>
      </p:sp>
      <p:sp>
        <p:nvSpPr>
          <p:cNvPr id="8" name="Личный план иностранного студента в MAX">
            <a:extLst xmlns:a="http://schemas.openxmlformats.org/drawingml/2006/main">
              <a:ext uri="{FF2B5EF4-FFF2-40B4-BE49-F238E27FC236}">
                <a16:creationId xmlns:a16="http://schemas.microsoft.com/office/drawing/2014/main" id="{11F8BFBD-7232-4067-89A0-B73F1297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14900"/>
            <a:ext cx="619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9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defPPr>
            <a:lvl1pPr>
              <a:defRPr sz="29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1pPr>
            <a:lvl2pPr>
              <a:defRPr sz="29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2pPr>
            <a:lvl3pPr>
              <a:defRPr sz="29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3pPr>
            <a:lvl4pPr>
              <a:defRPr sz="29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4pPr>
            <a:lvl5pPr>
              <a:defRPr sz="29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5pPr>
            <a:lvl6pPr>
              <a:defRPr sz="29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6pPr>
            <a:lvl7pPr>
              <a:defRPr sz="29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7pPr>
            <a:lvl8pPr>
              <a:defRPr sz="29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8pPr>
            <a:lvl9pPr>
              <a:defRPr sz="29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9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pPr>
            <a:r>
              <a:rPr sz="2925" b="0">
                <a:solidFill>
                  <a:srgbClr val="F1ECE2"/>
                </a:solidFill>
                <a:latin typeface="PT Sans"/>
                <a:ea typeface="PT Sans"/>
                <a:cs typeface="PT Sans"/>
              </a:rPr>
              <a:t>Личный план иностранного студента в MAX</a:t>
            </a:r>
          </a:p>
        </p:txBody>
      </p:sp>
      <p:sp>
        <p:nvSpPr>
          <p:cNvPr id="9" name="Иван Резников / Иван Пушкин&#10;Александр Чичерин / Михаил Анцев">
            <a:extLst xmlns:a="http://schemas.openxmlformats.org/drawingml/2006/main">
              <a:ext uri="{FF2B5EF4-FFF2-40B4-BE49-F238E27FC236}">
                <a16:creationId xmlns:a16="http://schemas.microsoft.com/office/drawing/2014/main" id="{465D73FD-BDC4-46E2-B364-6EA1B899F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34100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defPPr>
            <a:lvl1pPr>
              <a:defRPr sz="157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1pPr>
            <a:lvl2pPr>
              <a:defRPr sz="157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2pPr>
            <a:lvl3pPr>
              <a:defRPr sz="157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3pPr>
            <a:lvl4pPr>
              <a:defRPr sz="157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4pPr>
            <a:lvl5pPr>
              <a:defRPr sz="157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5pPr>
            <a:lvl6pPr>
              <a:defRPr sz="157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6pPr>
            <a:lvl7pPr>
              <a:defRPr sz="157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7pPr>
            <a:lvl8pPr>
              <a:defRPr sz="157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8pPr>
            <a:lvl9pPr>
              <a:defRPr sz="157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pPr>
            <a:r>
              <a:rPr sz="1575" b="0">
                <a:solidFill>
                  <a:srgbClr val="F1ECE2"/>
                </a:solidFill>
                <a:latin typeface="PT Sans"/>
                <a:ea typeface="PT Sans"/>
                <a:cs typeface="PT Sans"/>
              </a:rPr>
              <a:t>Иван Резников / Иван Пушкин</a:t>
            </a:r>
          </a:p>
          <a:p xmlns:a="http://schemas.openxmlformats.org/drawingml/2006/main">
            <a:pPr>
              <a:defRPr sz="157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pPr>
            <a:r>
              <a:rPr sz="1575" b="0">
                <a:solidFill>
                  <a:srgbClr val="F1ECE2"/>
                </a:solidFill>
                <a:latin typeface="PT Sans"/>
                <a:ea typeface="PT Sans"/>
                <a:cs typeface="PT Sans"/>
              </a:rPr>
              <a:t>Александр Чичерин / Михаил Анцев</a:t>
            </a:r>
          </a:p>
        </p:txBody>
      </p:sp>
    </p:spTree>
    <p:extLst>
      <p:ext uri="{BB962C8B-B14F-4D97-AF65-F5344CB8AC3E}">
        <p14:creationId xmlns:p14="http://schemas.microsoft.com/office/powerpoint/2010/main" val="15436917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1ECE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ЗАДАЧА СТУДЕНТА">
            <a:extLst xmlns:a="http://schemas.openxmlformats.org/drawingml/2006/main">
              <a:ext uri="{FF2B5EF4-FFF2-40B4-BE49-F238E27FC236}">
                <a16:creationId xmlns:a16="http://schemas.microsoft.com/office/drawing/2014/main" id="{F2BECB04-E5EE-4FA1-97D1-2B1092395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ЗАДАЧА СТУДЕНТА</a:t>
            </a:r>
          </a:p>
        </p:txBody>
      </p:sp>
      <p:sp>
        <p:nvSpPr>
          <p:cNvPr id="2" name="02">
            <a:extLst xmlns:a="http://schemas.openxmlformats.org/drawingml/2006/main">
              <a:ext uri="{FF2B5EF4-FFF2-40B4-BE49-F238E27FC236}">
                <a16:creationId xmlns:a16="http://schemas.microsoft.com/office/drawing/2014/main" id="{A78C8007-CADF-45D7-9DB7-C73857B6B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7622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31E4ED-3EFD-484C-A1A3-0ACA003BE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4" name="КОГДА И С ЧЕМ&#10;ПРИХОДИТЬ?">
            <a:extLst xmlns:a="http://schemas.openxmlformats.org/drawingml/2006/main">
              <a:ext uri="{FF2B5EF4-FFF2-40B4-BE49-F238E27FC236}">
                <a16:creationId xmlns:a16="http://schemas.microsoft.com/office/drawing/2014/main" id="{78A1D23E-0F81-49A5-A330-4963E72D4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95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427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КОГДА И С ЧЕМ</a:t>
            </a:r>
          </a:p>
          <a:p xmlns:a="http://schemas.openxmlformats.org/drawingml/2006/main">
            <a: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427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ПРИХОДИТЬ?</a:t>
            </a:r>
          </a:p>
        </p:txBody>
      </p:sp>
      <p:sp>
        <p:nvSpPr>
          <p:cNvPr id="5" name="Инструкции общие.&#10;Дата въезда у каждого своя.">
            <a:extLst xmlns:a="http://schemas.openxmlformats.org/drawingml/2006/main">
              <a:ext uri="{FF2B5EF4-FFF2-40B4-BE49-F238E27FC236}">
                <a16:creationId xmlns:a16="http://schemas.microsoft.com/office/drawing/2014/main" id="{9204325C-6893-4514-8AED-8445443C8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0958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8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8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8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8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8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8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8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8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8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85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Инструкции общие.</a:t>
            </a:r>
          </a:p>
          <a:p xmlns:a="http://schemas.openxmlformats.org/drawingml/2006/main">
            <a:pPr>
              <a:defRPr sz="28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85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Дата въезда у каждого своя.</a:t>
            </a:r>
          </a:p>
        </p:txBody>
      </p:sp>
      <p:sp>
        <p:nvSpPr>
          <p:cNvPr id="6" name="01">
            <a:extLst xmlns:a="http://schemas.openxmlformats.org/drawingml/2006/main">
              <a:ext uri="{FF2B5EF4-FFF2-40B4-BE49-F238E27FC236}">
                <a16:creationId xmlns:a16="http://schemas.microsoft.com/office/drawing/2014/main" id="{68DF8814-A1DE-4A02-B9C4-FB6D14832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019425"/>
            <a:ext cx="857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3525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01</a:t>
            </a:r>
          </a:p>
        </p:txBody>
      </p:sp>
      <p:sp>
        <p:nvSpPr>
          <p:cNvPr id="7" name="Найти свой случай">
            <a:extLst xmlns:a="http://schemas.openxmlformats.org/drawingml/2006/main">
              <a:ext uri="{FF2B5EF4-FFF2-40B4-BE49-F238E27FC236}">
                <a16:creationId xmlns:a16="http://schemas.microsoft.com/office/drawing/2014/main" id="{FB9267F9-5A9D-4CCA-9E84-BA2EA259D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4325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25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Найти свой случай</a:t>
            </a:r>
          </a:p>
        </p:txBody>
      </p:sp>
      <p:sp>
        <p:nvSpPr>
          <p:cNvPr id="8" name="02">
            <a:extLst xmlns:a="http://schemas.openxmlformats.org/drawingml/2006/main">
              <a:ext uri="{FF2B5EF4-FFF2-40B4-BE49-F238E27FC236}">
                <a16:creationId xmlns:a16="http://schemas.microsoft.com/office/drawing/2014/main" id="{2E3DEABA-F12A-4247-B11C-CF37673A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10025"/>
            <a:ext cx="857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3525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02</a:t>
            </a:r>
          </a:p>
        </p:txBody>
      </p:sp>
      <p:sp>
        <p:nvSpPr>
          <p:cNvPr id="9" name="Отсчитать сроки">
            <a:extLst xmlns:a="http://schemas.openxmlformats.org/drawingml/2006/main">
              <a:ext uri="{FF2B5EF4-FFF2-40B4-BE49-F238E27FC236}">
                <a16:creationId xmlns:a16="http://schemas.microsoft.com/office/drawing/2014/main" id="{3B877CA9-9FD4-4CBE-8451-663A6011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3385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25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Отсчитать сроки</a:t>
            </a:r>
          </a:p>
        </p:txBody>
      </p:sp>
      <p:sp>
        <p:nvSpPr>
          <p:cNvPr id="10" name="03">
            <a:extLst xmlns:a="http://schemas.openxmlformats.org/drawingml/2006/main">
              <a:ext uri="{FF2B5EF4-FFF2-40B4-BE49-F238E27FC236}">
                <a16:creationId xmlns:a16="http://schemas.microsoft.com/office/drawing/2014/main" id="{7486587B-44F3-450C-96B4-A74EB4D8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00625"/>
            <a:ext cx="857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3525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03</a:t>
            </a:r>
          </a:p>
        </p:txBody>
      </p:sp>
      <p:sp>
        <p:nvSpPr>
          <p:cNvPr id="11" name="Подготовить документы">
            <a:extLst xmlns:a="http://schemas.openxmlformats.org/drawingml/2006/main">
              <a:ext uri="{FF2B5EF4-FFF2-40B4-BE49-F238E27FC236}">
                <a16:creationId xmlns:a16="http://schemas.microsoft.com/office/drawing/2014/main" id="{FD67766D-ED18-4592-BA9B-5AA32AB36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12445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25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Подготовить документы</a:t>
            </a:r>
          </a:p>
        </p:txBody>
      </p:sp>
    </p:spTree>
    <p:extLst>
      <p:ext uri="{BB962C8B-B14F-4D97-AF65-F5344CB8AC3E}">
        <p14:creationId xmlns:p14="http://schemas.microsoft.com/office/powerpoint/2010/main" val="6250170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1ECE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ПОКАЗ В MAX">
            <a:extLst xmlns:a="http://schemas.openxmlformats.org/drawingml/2006/main">
              <a:ext uri="{FF2B5EF4-FFF2-40B4-BE49-F238E27FC236}">
                <a16:creationId xmlns:a16="http://schemas.microsoft.com/office/drawing/2014/main" id="{C491C29E-7716-4107-8046-B31357BC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ПОКАЗ В MAX</a:t>
            </a:r>
          </a:p>
        </p:txBody>
      </p:sp>
      <p:sp>
        <p:nvSpPr>
          <p:cNvPr id="2" name="03">
            <a:extLst xmlns:a="http://schemas.openxmlformats.org/drawingml/2006/main">
              <a:ext uri="{FF2B5EF4-FFF2-40B4-BE49-F238E27FC236}">
                <a16:creationId xmlns:a16="http://schemas.microsoft.com/office/drawing/2014/main" id="{3C37C7A7-739B-4768-8BA2-8AB39836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7622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159E79-34BB-4AF9-AB8C-441810B46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4" name="СВОЯ ДАТА.&#10;СЛЕДУЮЩИЙ ШАГ.">
            <a:extLst xmlns:a="http://schemas.openxmlformats.org/drawingml/2006/main">
              <a:ext uri="{FF2B5EF4-FFF2-40B4-BE49-F238E27FC236}">
                <a16:creationId xmlns:a16="http://schemas.microsoft.com/office/drawing/2014/main" id="{E0D195EE-810C-464C-93FC-B0845EF0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95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427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СВОЯ ДАТА.</a:t>
            </a:r>
          </a:p>
          <a:p xmlns:a="http://schemas.openxmlformats.org/drawingml/2006/main">
            <a: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427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СЛЕДУЮЩИЙ ШАГ.</a:t>
            </a:r>
          </a:p>
        </p:txBody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4BB8199D-C247-4B98-A594-F99527B2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809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3150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01</a:t>
            </a:r>
          </a:p>
        </p:txBody>
      </p:sp>
      <p:sp>
        <p:nvSpPr>
          <p:cNvPr id="6" name="План с личными датами">
            <a:extLst xmlns:a="http://schemas.openxmlformats.org/drawingml/2006/main">
              <a:ext uri="{FF2B5EF4-FFF2-40B4-BE49-F238E27FC236}">
                <a16:creationId xmlns:a16="http://schemas.microsoft.com/office/drawing/2014/main" id="{5CCC0E08-6EA8-450B-ADE7-52692181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238500"/>
            <a:ext cx="590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475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План с личными датами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8FFFB4AF-2FEC-4D06-95DE-EED00495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809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3150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02</a:t>
            </a:r>
          </a:p>
        </p:txBody>
      </p:sp>
      <p:sp>
        <p:nvSpPr>
          <p:cNvPr id="8" name="Карточка с документами">
            <a:extLst xmlns:a="http://schemas.openxmlformats.org/drawingml/2006/main">
              <a:ext uri="{FF2B5EF4-FFF2-40B4-BE49-F238E27FC236}">
                <a16:creationId xmlns:a16="http://schemas.microsoft.com/office/drawing/2014/main" id="{6C4B6495-86EC-4BD1-BCA9-460206F15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143375"/>
            <a:ext cx="590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475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Карточка с документами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D37D3F9D-30BF-4CD4-9416-4C18C78D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809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3150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03</a:t>
            </a:r>
          </a:p>
        </p:txBody>
      </p:sp>
      <p:sp>
        <p:nvSpPr>
          <p:cNvPr id="10" name="Напоминание в чате">
            <a:extLst xmlns:a="http://schemas.openxmlformats.org/drawingml/2006/main">
              <a:ext uri="{FF2B5EF4-FFF2-40B4-BE49-F238E27FC236}">
                <a16:creationId xmlns:a16="http://schemas.microsoft.com/office/drawing/2014/main" id="{3FCC4CF9-BC7F-4D2A-AE67-5093E792A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48250"/>
            <a:ext cx="590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475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Напоминание в чате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702838-41F9-4E78-B4D6-EFA8FF084E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1ce2ecca074af8"/>
          <a:stretch xmlns:a="http://schemas.openxmlformats.org/drawingml/2006/main"/>
        </p:blipFill>
        <p:spPr>
          <a:xfrm xmlns:a="http://schemas.openxmlformats.org/drawingml/2006/main">
            <a:off x="8525647" y="942975"/>
            <a:ext cx="2455905" cy="5048250"/>
          </a:xfrm>
          <a:prstGeom xmlns:a="http://schemas.openxmlformats.org/drawingml/2006/main" prst="rect">
            <a:avLst/>
          </a:prstGeom>
        </p:spPr>
      </p:pic>
      <p:sp>
        <p:nvSpPr>
          <p:cNvPr id="12" name="Экран MAX от 27.09.2026, учебный профиль. Живой показ перед ">
            <a:extLst xmlns:a="http://schemas.openxmlformats.org/drawingml/2006/main">
              <a:ext uri="{FF2B5EF4-FFF2-40B4-BE49-F238E27FC236}">
                <a16:creationId xmlns:a16="http://schemas.microsoft.com/office/drawing/2014/main" id="{2053A592-F675-4891-BB73-29ABFABB2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defPPr>
            <a:lvl1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1pPr>
            <a:lvl2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2pPr>
            <a:lvl3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3pPr>
            <a:lvl4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4pPr>
            <a:lvl5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5pPr>
            <a:lvl6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6pPr>
            <a:lvl7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7pPr>
            <a:lvl8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8pPr>
            <a:lvl9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pPr>
            <a:r>
              <a:rPr sz="1425" b="0">
                <a:solidFill>
                  <a:srgbClr val="6B675F"/>
                </a:solidFill>
                <a:latin typeface="PT Sans"/>
                <a:ea typeface="PT Sans"/>
                <a:cs typeface="PT Sans"/>
              </a:rPr>
              <a:t>Экран MAX от 27.09.2026, учебный профиль. Живой показ перед защитой проверяем отдельно.</a:t>
            </a:r>
          </a:p>
        </p:txBody>
      </p:sp>
    </p:spTree>
    <p:extLst>
      <p:ext uri="{BB962C8B-B14F-4D97-AF65-F5344CB8AC3E}">
        <p14:creationId xmlns:p14="http://schemas.microsoft.com/office/powerpoint/2010/main" val="212280475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1ECE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ОТВЕТ НА РЕКОМЕНДАЦИЮ ЖЮРИ">
            <a:extLst xmlns:a="http://schemas.openxmlformats.org/drawingml/2006/main">
              <a:ext uri="{FF2B5EF4-FFF2-40B4-BE49-F238E27FC236}">
                <a16:creationId xmlns:a16="http://schemas.microsoft.com/office/drawing/2014/main" id="{EEDC25E6-AC98-45A1-BE31-B24DDE8A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ОТВЕТ НА РЕКОМЕНДАЦИЮ ЖЮРИ</a:t>
            </a:r>
          </a:p>
        </p:txBody>
      </p:sp>
      <p:sp>
        <p:nvSpPr>
          <p:cNvPr id="2" name="04">
            <a:extLst xmlns:a="http://schemas.openxmlformats.org/drawingml/2006/main">
              <a:ext uri="{FF2B5EF4-FFF2-40B4-BE49-F238E27FC236}">
                <a16:creationId xmlns:a16="http://schemas.microsoft.com/office/drawing/2014/main" id="{70A1BA2E-D40B-4533-9FB6-A4C4169B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7622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9ED506-9B87-4A20-BE8D-D48E5C10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4" name="НАЧАТЬ ПОМОЩЬ&#10;ДО ПРИЕЗДА">
            <a:extLst xmlns:a="http://schemas.openxmlformats.org/drawingml/2006/main">
              <a:ext uri="{FF2B5EF4-FFF2-40B4-BE49-F238E27FC236}">
                <a16:creationId xmlns:a16="http://schemas.microsoft.com/office/drawing/2014/main" id="{39B38E88-125D-450E-B595-478994CB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95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427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НАЧАТЬ ПОМОЩЬ</a:t>
            </a:r>
          </a:p>
          <a:p xmlns:a="http://schemas.openxmlformats.org/drawingml/2006/main">
            <a: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427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ДО ПРИЕЗДА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F353CE-CD4F-4A35-94CA-5B6143572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5229225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151B"/>
          </a:solidFill>
          <a:ln xmlns:a="http://schemas.openxmlformats.org/drawingml/2006/main" w="0">
            <a:noFill/>
          </a:ln>
        </p:spPr>
      </p:sp>
      <p:sp>
        <p:nvSpPr>
          <p:cNvPr id="6" name="УЖЕ В КОДЕ: ДО ВЪЕЗДА">
            <a:extLst xmlns:a="http://schemas.openxmlformats.org/drawingml/2006/main">
              <a:ext uri="{FF2B5EF4-FFF2-40B4-BE49-F238E27FC236}">
                <a16:creationId xmlns:a16="http://schemas.microsoft.com/office/drawing/2014/main" id="{A754EEF0-5C16-4EAE-A8A6-87C7E134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114675"/>
            <a:ext cx="485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defPPr>
            <a:lvl1pPr>
              <a:defRPr sz="17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1pPr>
            <a:lvl2pPr>
              <a:defRPr sz="17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2pPr>
            <a:lvl3pPr>
              <a:defRPr sz="17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3pPr>
            <a:lvl4pPr>
              <a:defRPr sz="17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4pPr>
            <a:lvl5pPr>
              <a:defRPr sz="17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5pPr>
            <a:lvl6pPr>
              <a:defRPr sz="17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6pPr>
            <a:lvl7pPr>
              <a:defRPr sz="17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7pPr>
            <a:lvl8pPr>
              <a:defRPr sz="17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8pPr>
            <a:lvl9pPr>
              <a:defRPr sz="17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pPr>
            <a:r>
              <a:rPr sz="1725" b="1">
                <a:solidFill>
                  <a:srgbClr val="F1ECE2"/>
                </a:solidFill>
                <a:latin typeface="Tektur"/>
                <a:ea typeface="Tektur"/>
                <a:cs typeface="Tektur"/>
              </a:rPr>
              <a:t>УЖЕ В КОДЕ: ДО ВЪЕЗДА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7A0AF6-B927-457F-8BD5-E7F5D853A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529590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8" name="ИССЛЕДУЕМ: ДО ПОСТУПЛЕНИЯ">
            <a:extLst xmlns:a="http://schemas.openxmlformats.org/drawingml/2006/main">
              <a:ext uri="{FF2B5EF4-FFF2-40B4-BE49-F238E27FC236}">
                <a16:creationId xmlns:a16="http://schemas.microsoft.com/office/drawing/2014/main" id="{380A7E97-BBBC-47D2-8C1A-43A57AEBD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114675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defPPr>
            <a:lvl1pPr>
              <a:defRPr sz="17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1pPr>
            <a:lvl2pPr>
              <a:defRPr sz="17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2pPr>
            <a:lvl3pPr>
              <a:defRPr sz="17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3pPr>
            <a:lvl4pPr>
              <a:defRPr sz="17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4pPr>
            <a:lvl5pPr>
              <a:defRPr sz="17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5pPr>
            <a:lvl6pPr>
              <a:defRPr sz="17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6pPr>
            <a:lvl7pPr>
              <a:defRPr sz="17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7pPr>
            <a:lvl8pPr>
              <a:defRPr sz="17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8pPr>
            <a:lvl9pPr>
              <a:defRPr sz="17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pPr>
            <a:r>
              <a:rPr sz="1725" b="1">
                <a:solidFill>
                  <a:srgbClr val="F1ECE2"/>
                </a:solidFill>
                <a:latin typeface="Tektur"/>
                <a:ea typeface="Tektur"/>
                <a:cs typeface="Tektur"/>
              </a:rPr>
              <a:t>ИССЛЕДУЕМ: ДО ПОСТУПЛЕНИЯ</a:t>
            </a:r>
          </a:p>
        </p:txBody>
      </p:sp>
      <p:sp>
        <p:nvSpPr>
          <p:cNvPr id="9" name="Приглашение и виза">
            <a:extLst xmlns:a="http://schemas.openxmlformats.org/drawingml/2006/main">
              <a:ext uri="{FF2B5EF4-FFF2-40B4-BE49-F238E27FC236}">
                <a16:creationId xmlns:a16="http://schemas.microsoft.com/office/drawing/2014/main" id="{AAD6AA4D-633A-448E-8290-0937E073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83857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325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Приглашение и виза</a:t>
            </a:r>
          </a:p>
        </p:txBody>
      </p:sp>
      <p:sp>
        <p:nvSpPr>
          <p:cNvPr id="10" name="Подготовка документов">
            <a:extLst xmlns:a="http://schemas.openxmlformats.org/drawingml/2006/main">
              <a:ext uri="{FF2B5EF4-FFF2-40B4-BE49-F238E27FC236}">
                <a16:creationId xmlns:a16="http://schemas.microsoft.com/office/drawing/2014/main" id="{8DB681C3-FA69-496C-8AD0-7D91F1A83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52437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325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Подготовка документов</a:t>
            </a:r>
          </a:p>
        </p:txBody>
      </p:sp>
      <p:sp>
        <p:nvSpPr>
          <p:cNvPr id="11" name="Источники и контакты">
            <a:extLst xmlns:a="http://schemas.openxmlformats.org/drawingml/2006/main">
              <a:ext uri="{FF2B5EF4-FFF2-40B4-BE49-F238E27FC236}">
                <a16:creationId xmlns:a16="http://schemas.microsoft.com/office/drawing/2014/main" id="{CAE1507E-F90C-4D4C-BAD9-A2D4F1D2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1017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325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Источники и контакты</a:t>
            </a:r>
          </a:p>
        </p:txBody>
      </p:sp>
      <p:sp>
        <p:nvSpPr>
          <p:cNvPr id="12" name="Выбор вуза">
            <a:extLst xmlns:a="http://schemas.openxmlformats.org/drawingml/2006/main">
              <a:ext uri="{FF2B5EF4-FFF2-40B4-BE49-F238E27FC236}">
                <a16:creationId xmlns:a16="http://schemas.microsoft.com/office/drawing/2014/main" id="{15DF9415-FF30-4D39-B563-7D612B521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83857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325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Выбор вуза</a:t>
            </a:r>
          </a:p>
        </p:txBody>
      </p:sp>
      <p:sp>
        <p:nvSpPr>
          <p:cNvPr id="13" name="Подача документов">
            <a:extLst xmlns:a="http://schemas.openxmlformats.org/drawingml/2006/main">
              <a:ext uri="{FF2B5EF4-FFF2-40B4-BE49-F238E27FC236}">
                <a16:creationId xmlns:a16="http://schemas.microsoft.com/office/drawing/2014/main" id="{7B3B5ACD-8B42-41CF-8F0D-05C1902AD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52437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325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Подача документов</a:t>
            </a:r>
          </a:p>
        </p:txBody>
      </p:sp>
      <p:sp>
        <p:nvSpPr>
          <p:cNvPr id="14" name="Поддержка и гранты">
            <a:extLst xmlns:a="http://schemas.openxmlformats.org/drawingml/2006/main">
              <a:ext uri="{FF2B5EF4-FFF2-40B4-BE49-F238E27FC236}">
                <a16:creationId xmlns:a16="http://schemas.microsoft.com/office/drawing/2014/main" id="{4B01F9D0-2E4A-4EF7-A74C-7B50EF84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521017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325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Поддержка и гранты</a:t>
            </a:r>
          </a:p>
        </p:txBody>
      </p:sp>
    </p:spTree>
    <p:extLst>
      <p:ext uri="{BB962C8B-B14F-4D97-AF65-F5344CB8AC3E}">
        <p14:creationId xmlns:p14="http://schemas.microsoft.com/office/powerpoint/2010/main" val="8705317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1ECE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ОБОСНОВАНИЕ СПРОСА">
            <a:extLst xmlns:a="http://schemas.openxmlformats.org/drawingml/2006/main">
              <a:ext uri="{FF2B5EF4-FFF2-40B4-BE49-F238E27FC236}">
                <a16:creationId xmlns:a16="http://schemas.microsoft.com/office/drawing/2014/main" id="{1A81A942-AC87-4BB3-997A-95E812EB9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ОБОСНОВАНИЕ СПРОСА</a:t>
            </a:r>
          </a:p>
        </p:txBody>
      </p:sp>
      <p:sp>
        <p:nvSpPr>
          <p:cNvPr id="2" name="05">
            <a:extLst xmlns:a="http://schemas.openxmlformats.org/drawingml/2006/main">
              <a:ext uri="{FF2B5EF4-FFF2-40B4-BE49-F238E27FC236}">
                <a16:creationId xmlns:a16="http://schemas.microsoft.com/office/drawing/2014/main" id="{00872019-F330-454B-AA29-8A0F4F44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7622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243C3B-36C2-4BBE-A1CC-166321830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4" name="ЧТО ИЗВЕСТНО&#10;И ЧТО ПРОВЕРИМ">
            <a:extLst xmlns:a="http://schemas.openxmlformats.org/drawingml/2006/main">
              <a:ext uri="{FF2B5EF4-FFF2-40B4-BE49-F238E27FC236}">
                <a16:creationId xmlns:a16="http://schemas.microsoft.com/office/drawing/2014/main" id="{215739CF-3D1B-418C-A748-FC81B1071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95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427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ЧТО ИЗВЕСТНО</a:t>
            </a:r>
          </a:p>
          <a:p xmlns:a="http://schemas.openxmlformats.org/drawingml/2006/main">
            <a: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427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И ЧТО ПРОВЕРИМ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AC0A7D-1E75-4E91-996D-8A8635E0D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3A8"/>
          </a:solidFill>
          <a:ln xmlns:a="http://schemas.openxmlformats.org/drawingml/2006/main" w="0">
            <a:noFill/>
          </a:ln>
        </p:spPr>
      </p:sp>
      <p:sp>
        <p:nvSpPr>
          <p:cNvPr id="6" name="ЕСТЬ ОСНОВАНИЕ">
            <a:extLst xmlns:a="http://schemas.openxmlformats.org/drawingml/2006/main">
              <a:ext uri="{FF2B5EF4-FFF2-40B4-BE49-F238E27FC236}">
                <a16:creationId xmlns:a16="http://schemas.microsoft.com/office/drawing/2014/main" id="{1CA6A293-9EBF-48A9-9DFA-4D8CE5A4E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3695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2025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ЕСТЬ ОСНОВАНИЕ</a:t>
            </a:r>
          </a:p>
        </p:txBody>
      </p:sp>
      <p:sp>
        <p:nvSpPr>
          <p:cNvPr id="7" name="Исследование открытых инструкций">
            <a:extLst xmlns:a="http://schemas.openxmlformats.org/drawingml/2006/main">
              <a:ext uri="{FF2B5EF4-FFF2-40B4-BE49-F238E27FC236}">
                <a16:creationId xmlns:a16="http://schemas.microsoft.com/office/drawing/2014/main" id="{BE711E95-6372-4860-BEFD-D8297930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181350"/>
            <a:ext cx="695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40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Исследование открытых инструкций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64B589-3871-48D2-91C0-135DA949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3A8"/>
          </a:solidFill>
          <a:ln xmlns:a="http://schemas.openxmlformats.org/drawingml/2006/main" w="0">
            <a:noFill/>
          </a:ln>
        </p:spPr>
      </p:sp>
      <p:sp>
        <p:nvSpPr>
          <p:cNvPr id="9" name="ЕСТЬ ВОПРОС">
            <a:extLst xmlns:a="http://schemas.openxmlformats.org/drawingml/2006/main">
              <a:ext uri="{FF2B5EF4-FFF2-40B4-BE49-F238E27FC236}">
                <a16:creationId xmlns:a16="http://schemas.microsoft.com/office/drawing/2014/main" id="{2E39EA94-D727-4552-AEE4-34C18A5BA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3695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2025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ЕСТЬ ВОПРОС</a:t>
            </a:r>
          </a:p>
        </p:txBody>
      </p:sp>
      <p:sp>
        <p:nvSpPr>
          <p:cNvPr id="10" name="Помогает ли личный план студенту?">
            <a:extLst xmlns:a="http://schemas.openxmlformats.org/drawingml/2006/main">
              <a:ext uri="{FF2B5EF4-FFF2-40B4-BE49-F238E27FC236}">
                <a16:creationId xmlns:a16="http://schemas.microsoft.com/office/drawing/2014/main" id="{048DF0C7-C211-47B5-BFBD-F059DB1B6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181475"/>
            <a:ext cx="695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40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Помогает ли личный план студенту?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3891D3-7D8D-49B7-AAC2-F1D09AE1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3A8"/>
          </a:solidFill>
          <a:ln xmlns:a="http://schemas.openxmlformats.org/drawingml/2006/main" w="0">
            <a:noFill/>
          </a:ln>
        </p:spPr>
      </p:sp>
      <p:sp>
        <p:nvSpPr>
          <p:cNvPr id="12" name="ЕСТЬ СПОСОБ ПРОВЕРКИ">
            <a:extLst xmlns:a="http://schemas.openxmlformats.org/drawingml/2006/main">
              <a:ext uri="{FF2B5EF4-FFF2-40B4-BE49-F238E27FC236}">
                <a16:creationId xmlns:a16="http://schemas.microsoft.com/office/drawing/2014/main" id="{BC28C917-72D2-4CDB-9DBE-05C19906F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3695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2025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ЕСТЬ СПОСОБ ПРОВЕРКИ</a:t>
            </a:r>
          </a:p>
        </p:txBody>
      </p:sp>
      <p:sp>
        <p:nvSpPr>
          <p:cNvPr id="13" name="Сравнить памятку и продукт">
            <a:extLst xmlns:a="http://schemas.openxmlformats.org/drawingml/2006/main">
              <a:ext uri="{FF2B5EF4-FFF2-40B4-BE49-F238E27FC236}">
                <a16:creationId xmlns:a16="http://schemas.microsoft.com/office/drawing/2014/main" id="{04402FC0-BC75-420B-B09B-67C528A3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181600"/>
            <a:ext cx="695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40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Сравнить памятку и продукт</a:t>
            </a:r>
          </a:p>
        </p:txBody>
      </p:sp>
      <p:sp>
        <p:nvSpPr>
          <p:cNvPr id="14" name="Интервью, измеренного эффекта и договорённости о пилоте пока">
            <a:extLst xmlns:a="http://schemas.openxmlformats.org/drawingml/2006/main">
              <a:ext uri="{FF2B5EF4-FFF2-40B4-BE49-F238E27FC236}">
                <a16:creationId xmlns:a16="http://schemas.microsoft.com/office/drawing/2014/main" id="{FA26E782-C81C-4571-8FC9-0592F725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defPPr>
            <a:lvl1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1pPr>
            <a:lvl2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2pPr>
            <a:lvl3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3pPr>
            <a:lvl4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4pPr>
            <a:lvl5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5pPr>
            <a:lvl6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6pPr>
            <a:lvl7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7pPr>
            <a:lvl8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8pPr>
            <a:lvl9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pPr>
            <a:r>
              <a:rPr sz="1425" b="0">
                <a:solidFill>
                  <a:srgbClr val="6B675F"/>
                </a:solidFill>
                <a:latin typeface="PT Sans"/>
                <a:ea typeface="PT Sans"/>
                <a:cs typeface="PT Sans"/>
              </a:rPr>
              <a:t>Интервью, измеренного эффекта и договорённости о пилоте пока нет.</a:t>
            </a:r>
          </a:p>
        </p:txBody>
      </p:sp>
    </p:spTree>
    <p:extLst>
      <p:ext uri="{BB962C8B-B14F-4D97-AF65-F5344CB8AC3E}">
        <p14:creationId xmlns:p14="http://schemas.microsoft.com/office/powerpoint/2010/main" val="160781622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1ECE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ОЛЬЗА И КАНАЛ ЗАПУСКА">
            <a:extLst xmlns:a="http://schemas.openxmlformats.org/drawingml/2006/main">
              <a:ext uri="{FF2B5EF4-FFF2-40B4-BE49-F238E27FC236}">
                <a16:creationId xmlns:a16="http://schemas.microsoft.com/office/drawing/2014/main" id="{BAD899BD-C5EA-428B-9A4E-36988C08C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ПОЛЬЗА И КАНАЛ ЗАПУСКА</a:t>
            </a:r>
          </a:p>
        </p:txBody>
      </p:sp>
      <p:sp>
        <p:nvSpPr>
          <p:cNvPr id="2" name="06">
            <a:extLst xmlns:a="http://schemas.openxmlformats.org/drawingml/2006/main">
              <a:ext uri="{FF2B5EF4-FFF2-40B4-BE49-F238E27FC236}">
                <a16:creationId xmlns:a16="http://schemas.microsoft.com/office/drawing/2014/main" id="{8DD572A8-6C37-443C-AB6B-FCD4EC686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7622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ADB7DB-9781-473E-B3CE-77D194600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4" name="ПЛАН РЯДОМ&#10;С ПЕРЕПИСКОЙ">
            <a:extLst xmlns:a="http://schemas.openxmlformats.org/drawingml/2006/main">
              <a:ext uri="{FF2B5EF4-FFF2-40B4-BE49-F238E27FC236}">
                <a16:creationId xmlns:a16="http://schemas.microsoft.com/office/drawing/2014/main" id="{1E3640BC-7412-4077-8EC6-D7CDE6BD4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95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427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ПЛАН РЯДОМ</a:t>
            </a:r>
          </a:p>
          <a:p xmlns:a="http://schemas.openxmlformats.org/drawingml/2006/main">
            <a: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427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С ПЕРЕПИСКОЙ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FF2789-368B-48E5-9EEF-41447B760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3A8"/>
          </a:solidFill>
          <a:ln xmlns:a="http://schemas.openxmlformats.org/drawingml/2006/main" w="0">
            <a:noFill/>
          </a:ln>
        </p:spPr>
      </p:sp>
      <p:sp>
        <p:nvSpPr>
          <p:cNvPr id="6" name="СТУДЕНТ">
            <a:extLst xmlns:a="http://schemas.openxmlformats.org/drawingml/2006/main">
              <a:ext uri="{FF2B5EF4-FFF2-40B4-BE49-F238E27FC236}">
                <a16:creationId xmlns:a16="http://schemas.microsoft.com/office/drawing/2014/main" id="{39103455-DEBC-40F5-A196-570DF9BB7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3695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2025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СТУДЕНТ</a:t>
            </a:r>
          </a:p>
        </p:txBody>
      </p:sp>
      <p:sp>
        <p:nvSpPr>
          <p:cNvPr id="7" name="Личная дата, документы и напоминание">
            <a:extLst xmlns:a="http://schemas.openxmlformats.org/drawingml/2006/main">
              <a:ext uri="{FF2B5EF4-FFF2-40B4-BE49-F238E27FC236}">
                <a16:creationId xmlns:a16="http://schemas.microsoft.com/office/drawing/2014/main" id="{7B718902-0BCB-4C5B-AEB3-393BB0ECD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181350"/>
            <a:ext cx="695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40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Личная дата, документы и напоминание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6B48D1-9DDA-4439-B0B4-062ED5BD2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3A8"/>
          </a:solidFill>
          <a:ln xmlns:a="http://schemas.openxmlformats.org/drawingml/2006/main" w="0">
            <a:noFill/>
          </a:ln>
        </p:spPr>
      </p:sp>
      <p:sp>
        <p:nvSpPr>
          <p:cNvPr id="9" name="ВУЗ">
            <a:extLst xmlns:a="http://schemas.openxmlformats.org/drawingml/2006/main">
              <a:ext uri="{FF2B5EF4-FFF2-40B4-BE49-F238E27FC236}">
                <a16:creationId xmlns:a16="http://schemas.microsoft.com/office/drawing/2014/main" id="{F04A905D-FCA8-45F3-863A-AF24BACC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3695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2025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ВУЗ</a:t>
            </a:r>
          </a:p>
        </p:txBody>
      </p:sp>
      <p:sp>
        <p:nvSpPr>
          <p:cNvPr id="10" name="Гипотеза: меньше повторных вопросов">
            <a:extLst xmlns:a="http://schemas.openxmlformats.org/drawingml/2006/main">
              <a:ext uri="{FF2B5EF4-FFF2-40B4-BE49-F238E27FC236}">
                <a16:creationId xmlns:a16="http://schemas.microsoft.com/office/drawing/2014/main" id="{4271004D-543C-427D-B8A0-F81C08A09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181475"/>
            <a:ext cx="695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40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Гипотеза: меньше повторных вопросов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80D943-0242-4354-B3B7-3EF4E152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3A8"/>
          </a:solidFill>
          <a:ln xmlns:a="http://schemas.openxmlformats.org/drawingml/2006/main" w="0">
            <a:noFill/>
          </a:ln>
        </p:spPr>
      </p:sp>
      <p:sp>
        <p:nvSpPr>
          <p:cNvPr id="12" name="MAX">
            <a:extLst xmlns:a="http://schemas.openxmlformats.org/drawingml/2006/main">
              <a:ext uri="{FF2B5EF4-FFF2-40B4-BE49-F238E27FC236}">
                <a16:creationId xmlns:a16="http://schemas.microsoft.com/office/drawing/2014/main" id="{D5E4D1CD-A6AC-4357-A7A3-DE992569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3695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2025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MAX</a:t>
            </a:r>
          </a:p>
        </p:txBody>
      </p:sp>
      <p:sp>
        <p:nvSpPr>
          <p:cNvPr id="13" name="Гипотеза: вход по ссылке из письма вуза">
            <a:extLst xmlns:a="http://schemas.openxmlformats.org/drawingml/2006/main">
              <a:ext uri="{FF2B5EF4-FFF2-40B4-BE49-F238E27FC236}">
                <a16:creationId xmlns:a16="http://schemas.microsoft.com/office/drawing/2014/main" id="{0BDC0C52-69CC-4E0D-AE11-4D4F97A3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181600"/>
            <a:ext cx="695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40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Гипотеза: вход по ссылке из письма вуза</a:t>
            </a:r>
          </a:p>
        </p:txBody>
      </p:sp>
    </p:spTree>
    <p:extLst>
      <p:ext uri="{BB962C8B-B14F-4D97-AF65-F5344CB8AC3E}">
        <p14:creationId xmlns:p14="http://schemas.microsoft.com/office/powerpoint/2010/main" val="15083137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1ECE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ПЕРЕНОС В ДРУГОЙ ВУЗ">
            <a:extLst xmlns:a="http://schemas.openxmlformats.org/drawingml/2006/main">
              <a:ext uri="{FF2B5EF4-FFF2-40B4-BE49-F238E27FC236}">
                <a16:creationId xmlns:a16="http://schemas.microsoft.com/office/drawing/2014/main" id="{1F9E4AD6-43CA-4223-8F35-50EC0850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ПЕРЕНОС В ДРУГОЙ ВУЗ</a:t>
            </a:r>
          </a:p>
        </p:txBody>
      </p:sp>
      <p:sp>
        <p:nvSpPr>
          <p:cNvPr id="2" name="07">
            <a:extLst xmlns:a="http://schemas.openxmlformats.org/drawingml/2006/main">
              <a:ext uri="{FF2B5EF4-FFF2-40B4-BE49-F238E27FC236}">
                <a16:creationId xmlns:a16="http://schemas.microsoft.com/office/drawing/2014/main" id="{E030A903-A740-4403-9B85-F8737F740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7622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2656F8-CBDD-4396-9193-0A43D7881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4" name="ОДНО ЯДРО.&#10;РАЗНЫЕ ДАННЫЕ.">
            <a:extLst xmlns:a="http://schemas.openxmlformats.org/drawingml/2006/main">
              <a:ext uri="{FF2B5EF4-FFF2-40B4-BE49-F238E27FC236}">
                <a16:creationId xmlns:a16="http://schemas.microsoft.com/office/drawing/2014/main" id="{F2C13CA8-82E5-4FE4-A968-DD3928211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95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427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ОДНО ЯДРО.</a:t>
            </a:r>
          </a:p>
          <a:p xmlns:a="http://schemas.openxmlformats.org/drawingml/2006/main">
            <a: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427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РАЗНЫЕ ДАННЫЕ.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8D7C54-20D1-41EA-9867-06187422C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3714750" cy="2771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151B"/>
          </a:solidFill>
          <a:ln xmlns:a="http://schemas.openxmlformats.org/drawingml/2006/main" w="0">
            <a:noFill/>
          </a:ln>
        </p:spPr>
      </p:sp>
      <p:sp>
        <p:nvSpPr>
          <p:cNvPr id="6" name="РАСЧЁТ&#10;И НАПОМИНАНИЯ">
            <a:extLst xmlns:a="http://schemas.openxmlformats.org/drawingml/2006/main">
              <a:ext uri="{FF2B5EF4-FFF2-40B4-BE49-F238E27FC236}">
                <a16:creationId xmlns:a16="http://schemas.microsoft.com/office/drawing/2014/main" id="{DB47CCE2-C996-47DA-B6B5-E305A94D3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76625"/>
            <a:ext cx="3333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8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defPPr>
            <a:lvl1pPr>
              <a:defRPr sz="28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1pPr>
            <a:lvl2pPr>
              <a:defRPr sz="28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2pPr>
            <a:lvl3pPr>
              <a:defRPr sz="28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3pPr>
            <a:lvl4pPr>
              <a:defRPr sz="28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4pPr>
            <a:lvl5pPr>
              <a:defRPr sz="28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5pPr>
            <a:lvl6pPr>
              <a:defRPr sz="28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6pPr>
            <a:lvl7pPr>
              <a:defRPr sz="28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7pPr>
            <a:lvl8pPr>
              <a:defRPr sz="28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8pPr>
            <a:lvl9pPr>
              <a:defRPr sz="28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pPr>
            <a:r>
              <a:rPr sz="2850" b="1">
                <a:solidFill>
                  <a:srgbClr val="F1ECE2"/>
                </a:solidFill>
                <a:latin typeface="Tektur"/>
                <a:ea typeface="Tektur"/>
                <a:cs typeface="Tektur"/>
              </a:rPr>
              <a:t>РАСЧЁТ</a:t>
            </a:r>
          </a:p>
          <a:p xmlns:a="http://schemas.openxmlformats.org/drawingml/2006/main">
            <a:pPr>
              <a:defRPr sz="2850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pPr>
            <a:r>
              <a:rPr sz="2850" b="1">
                <a:solidFill>
                  <a:srgbClr val="F1ECE2"/>
                </a:solidFill>
                <a:latin typeface="Tektur"/>
                <a:ea typeface="Tektur"/>
                <a:cs typeface="Tektur"/>
              </a:rPr>
              <a:t>И НАПОМИНАНИЯ</a:t>
            </a:r>
          </a:p>
        </p:txBody>
      </p:sp>
      <p:sp>
        <p:nvSpPr>
          <p:cNvPr id="7" name="КФУ">
            <a:extLst xmlns:a="http://schemas.openxmlformats.org/drawingml/2006/main">
              <a:ext uri="{FF2B5EF4-FFF2-40B4-BE49-F238E27FC236}">
                <a16:creationId xmlns:a16="http://schemas.microsoft.com/office/drawing/2014/main" id="{B8D2F992-E22B-4686-B86C-779D7254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67050"/>
            <a:ext cx="600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382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КФУ</a:t>
            </a:r>
          </a:p>
        </p:txBody>
      </p:sp>
      <p:sp>
        <p:nvSpPr>
          <p:cNvPr id="8" name="ИТМО">
            <a:extLst xmlns:a="http://schemas.openxmlformats.org/drawingml/2006/main">
              <a:ext uri="{FF2B5EF4-FFF2-40B4-BE49-F238E27FC236}">
                <a16:creationId xmlns:a16="http://schemas.microsoft.com/office/drawing/2014/main" id="{72A305AC-822E-408C-BF24-FCC372F6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019550"/>
            <a:ext cx="600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382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ИТМО</a:t>
            </a:r>
          </a:p>
        </p:txBody>
      </p:sp>
      <p:sp>
        <p:nvSpPr>
          <p:cNvPr id="9" name="СПбГЭУ">
            <a:extLst xmlns:a="http://schemas.openxmlformats.org/drawingml/2006/main">
              <a:ext uri="{FF2B5EF4-FFF2-40B4-BE49-F238E27FC236}">
                <a16:creationId xmlns:a16="http://schemas.microsoft.com/office/drawing/2014/main" id="{996360B3-6908-4380-80CD-3F6CEF44E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972050"/>
            <a:ext cx="600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38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382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СПбГЭУ</a:t>
            </a:r>
          </a:p>
        </p:txBody>
      </p:sp>
      <p:sp>
        <p:nvSpPr>
          <p:cNvPr id="10" name="Профили по открытым источникам. Вузы пока не партнёры.">
            <a:extLst xmlns:a="http://schemas.openxmlformats.org/drawingml/2006/main">
              <a:ext uri="{FF2B5EF4-FFF2-40B4-BE49-F238E27FC236}">
                <a16:creationId xmlns:a16="http://schemas.microsoft.com/office/drawing/2014/main" id="{523ADE46-D5E9-4C13-A4AD-B8BD01683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defPPr>
            <a:lvl1pPr>
              <a:defRPr sz="1650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1pPr>
            <a:lvl2pPr>
              <a:defRPr sz="1650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2pPr>
            <a:lvl3pPr>
              <a:defRPr sz="1650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3pPr>
            <a:lvl4pPr>
              <a:defRPr sz="1650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4pPr>
            <a:lvl5pPr>
              <a:defRPr sz="1650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5pPr>
            <a:lvl6pPr>
              <a:defRPr sz="1650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6pPr>
            <a:lvl7pPr>
              <a:defRPr sz="1650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7pPr>
            <a:lvl8pPr>
              <a:defRPr sz="1650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8pPr>
            <a:lvl9pPr>
              <a:defRPr sz="1650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pPr>
            <a:r>
              <a:rPr sz="1650" b="0">
                <a:solidFill>
                  <a:srgbClr val="6B675F"/>
                </a:solidFill>
                <a:latin typeface="PT Sans"/>
                <a:ea typeface="PT Sans"/>
                <a:cs typeface="PT Sans"/>
              </a:rPr>
              <a:t>Профили по открытым источникам. Вузы пока не партнёры.</a:t>
            </a:r>
          </a:p>
        </p:txBody>
      </p:sp>
    </p:spTree>
    <p:extLst>
      <p:ext uri="{BB962C8B-B14F-4D97-AF65-F5344CB8AC3E}">
        <p14:creationId xmlns:p14="http://schemas.microsoft.com/office/powerpoint/2010/main" val="150438521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1ECE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ЦЕЛИ ПЕРВОГО ТЕСТА">
            <a:extLst xmlns:a="http://schemas.openxmlformats.org/drawingml/2006/main">
              <a:ext uri="{FF2B5EF4-FFF2-40B4-BE49-F238E27FC236}">
                <a16:creationId xmlns:a16="http://schemas.microsoft.com/office/drawing/2014/main" id="{8D164EDF-469E-4B5A-902D-77CEBDEE5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ЦЕЛИ ПЕРВОГО ТЕСТА</a:t>
            </a:r>
          </a:p>
        </p:txBody>
      </p:sp>
      <p:sp>
        <p:nvSpPr>
          <p:cNvPr id="2" name="08">
            <a:extLst xmlns:a="http://schemas.openxmlformats.org/drawingml/2006/main">
              <a:ext uri="{FF2B5EF4-FFF2-40B4-BE49-F238E27FC236}">
                <a16:creationId xmlns:a16="http://schemas.microsoft.com/office/drawing/2014/main" id="{4F61158D-2A0F-499B-8FE4-D1DA506C1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7622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1FA194-20EA-4119-92B0-68F3E3119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4" name="ПРОВЕРИТЬ ПОЛЬЗУ&#10;ВМЕСТЕ С ВУЗОМ">
            <a:extLst xmlns:a="http://schemas.openxmlformats.org/drawingml/2006/main">
              <a:ext uri="{FF2B5EF4-FFF2-40B4-BE49-F238E27FC236}">
                <a16:creationId xmlns:a16="http://schemas.microsoft.com/office/drawing/2014/main" id="{4E9E3070-4E04-4D6A-9EE6-2E26D59FF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95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427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ПРОВЕРИТЬ ПОЛЬЗУ</a:t>
            </a:r>
          </a:p>
          <a:p xmlns:a="http://schemas.openxmlformats.org/drawingml/2006/main">
            <a: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427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ВМЕСТЕ С ВУЗОМ</a:t>
            </a:r>
          </a:p>
        </p:txBody>
      </p:sp>
      <p:sp>
        <p:nvSpPr>
          <p:cNvPr id="5" name="80%">
            <a:extLst xmlns:a="http://schemas.openxmlformats.org/drawingml/2006/main">
              <a:ext uri="{FF2B5EF4-FFF2-40B4-BE49-F238E27FC236}">
                <a16:creationId xmlns:a16="http://schemas.microsoft.com/office/drawing/2014/main" id="{156C68FF-1C60-4743-A05C-3D2A4AFFC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57525"/>
            <a:ext cx="35718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7650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80%</a:t>
            </a:r>
          </a:p>
        </p:txBody>
      </p:sp>
      <p:sp>
        <p:nvSpPr>
          <p:cNvPr id="6" name="самостоятельного&#10;завершения">
            <a:extLst xmlns:a="http://schemas.openxmlformats.org/drawingml/2006/main">
              <a:ext uri="{FF2B5EF4-FFF2-40B4-BE49-F238E27FC236}">
                <a16:creationId xmlns:a16="http://schemas.microsoft.com/office/drawing/2014/main" id="{51952BEE-B42D-42FC-B839-2B765C2F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33925"/>
            <a:ext cx="33337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25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самостоятельного</a:t>
            </a:r>
          </a:p>
          <a:p xmlns:a="http://schemas.openxmlformats.org/drawingml/2006/main">
            <a: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25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завершения</a:t>
            </a:r>
          </a:p>
        </p:txBody>
      </p:sp>
      <p:sp>
        <p:nvSpPr>
          <p:cNvPr id="7" name="0">
            <a:extLst xmlns:a="http://schemas.openxmlformats.org/drawingml/2006/main">
              <a:ext uri="{FF2B5EF4-FFF2-40B4-BE49-F238E27FC236}">
                <a16:creationId xmlns:a16="http://schemas.microsoft.com/office/drawing/2014/main" id="{2E80D1A8-D3F4-42DF-9705-E34AEC02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057525"/>
            <a:ext cx="35718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7650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0</a:t>
            </a:r>
          </a:p>
        </p:txBody>
      </p:sp>
      <p:sp>
        <p:nvSpPr>
          <p:cNvPr id="8" name="критичных ошибок&#10;в контрольных заданиях">
            <a:extLst xmlns:a="http://schemas.openxmlformats.org/drawingml/2006/main">
              <a:ext uri="{FF2B5EF4-FFF2-40B4-BE49-F238E27FC236}">
                <a16:creationId xmlns:a16="http://schemas.microsoft.com/office/drawing/2014/main" id="{2731E62F-6AAB-4778-89AC-5A2293DCF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733925"/>
            <a:ext cx="33337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25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критичных ошибок</a:t>
            </a:r>
          </a:p>
          <a:p xmlns:a="http://schemas.openxmlformats.org/drawingml/2006/main">
            <a: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25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в контрольных заданиях</a:t>
            </a:r>
          </a:p>
        </p:txBody>
      </p:sp>
      <p:sp>
        <p:nvSpPr>
          <p:cNvPr id="9" name="−30%">
            <a:extLst xmlns:a="http://schemas.openxmlformats.org/drawingml/2006/main">
              <a:ext uri="{FF2B5EF4-FFF2-40B4-BE49-F238E27FC236}">
                <a16:creationId xmlns:a16="http://schemas.microsoft.com/office/drawing/2014/main" id="{C44ACFBA-32DB-40EB-80CF-8898A0826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57525"/>
            <a:ext cx="35718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765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7650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−30%</a:t>
            </a:r>
          </a:p>
        </p:txBody>
      </p:sp>
      <p:sp>
        <p:nvSpPr>
          <p:cNvPr id="10" name="времени&#10;до корректного плана">
            <a:extLst xmlns:a="http://schemas.openxmlformats.org/drawingml/2006/main">
              <a:ext uri="{FF2B5EF4-FFF2-40B4-BE49-F238E27FC236}">
                <a16:creationId xmlns:a16="http://schemas.microsoft.com/office/drawing/2014/main" id="{0FCCC59C-EE6F-4DF4-A105-09C701734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733925"/>
            <a:ext cx="33337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25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времени</a:t>
            </a:r>
          </a:p>
          <a:p xmlns:a="http://schemas.openxmlformats.org/drawingml/2006/main">
            <a:pPr>
              <a:defRPr sz="225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25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до корректного плана</a:t>
            </a:r>
          </a:p>
        </p:txBody>
      </p:sp>
      <p:sp>
        <p:nvSpPr>
          <p:cNvPr id="11" name="Предложенные пороги, не результаты. Первый этап: 10–15 наблю">
            <a:extLst xmlns:a="http://schemas.openxmlformats.org/drawingml/2006/main">
              <a:ext uri="{FF2B5EF4-FFF2-40B4-BE49-F238E27FC236}">
                <a16:creationId xmlns:a16="http://schemas.microsoft.com/office/drawing/2014/main" id="{A3BD33CC-1845-45A2-8438-7D994AA59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defPPr>
            <a:lvl1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1pPr>
            <a:lvl2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2pPr>
            <a:lvl3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3pPr>
            <a:lvl4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4pPr>
            <a:lvl5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5pPr>
            <a:lvl6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6pPr>
            <a:lvl7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7pPr>
            <a:lvl8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8pPr>
            <a:lvl9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pPr>
            <a:r>
              <a:rPr sz="1425" b="0">
                <a:solidFill>
                  <a:srgbClr val="6B675F"/>
                </a:solidFill>
                <a:latin typeface="PT Sans"/>
                <a:ea typeface="PT Sans"/>
                <a:cs typeface="PT Sans"/>
              </a:rPr>
              <a:t>Предложенные пороги, не результаты. Первый этап: 10–15 наблюдаемых сессий.</a:t>
            </a:r>
          </a:p>
        </p:txBody>
      </p:sp>
    </p:spTree>
    <p:extLst>
      <p:ext uri="{BB962C8B-B14F-4D97-AF65-F5344CB8AC3E}">
        <p14:creationId xmlns:p14="http://schemas.microsoft.com/office/powerpoint/2010/main" val="13724978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ИИ В МАССЫ">
            <a:extLst xmlns:a="http://schemas.openxmlformats.org/drawingml/2006/main">
              <a:ext uri="{FF2B5EF4-FFF2-40B4-BE49-F238E27FC236}">
                <a16:creationId xmlns:a16="http://schemas.microsoft.com/office/drawing/2014/main" id="{0D7A184F-807C-4B23-BB98-654B4CCE9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F1ECE2"/>
                </a:solidFill>
                <a:latin typeface="Tektur"/>
                <a:ea typeface="Tektur"/>
                <a:cs typeface="Tektur"/>
              </a:rPr>
              <a:t>ИИ В МАССЫ</a:t>
            </a:r>
          </a:p>
        </p:txBody>
      </p:sp>
      <p:sp>
        <p:nvSpPr>
          <p:cNvPr id="2" name="09">
            <a:extLst xmlns:a="http://schemas.openxmlformats.org/drawingml/2006/main">
              <a:ext uri="{FF2B5EF4-FFF2-40B4-BE49-F238E27FC236}">
                <a16:creationId xmlns:a16="http://schemas.microsoft.com/office/drawing/2014/main" id="{A23F3C50-11B5-4C76-82D4-756D75E32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7622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F1ECE2"/>
                </a:solidFill>
                <a:latin typeface="Tektur"/>
                <a:ea typeface="Tektur"/>
                <a:cs typeface="Tektur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058B79-0883-4FCB-B126-31A12C486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151B"/>
          </a:solidFill>
          <a:ln xmlns:a="http://schemas.openxmlformats.org/drawingml/2006/main" w="0">
            <a:noFill/>
          </a:ln>
        </p:spPr>
      </p:sp>
      <p:sp>
        <p:nvSpPr>
          <p:cNvPr id="4" name="ПЕРВЫЕ 90 ДНЕЙ&#10;С ЛИЧНЫМ ПЛАНОМ">
            <a:extLst xmlns:a="http://schemas.openxmlformats.org/drawingml/2006/main">
              <a:ext uri="{FF2B5EF4-FFF2-40B4-BE49-F238E27FC236}">
                <a16:creationId xmlns:a16="http://schemas.microsoft.com/office/drawing/2014/main" id="{44A7AD2E-726A-48B4-BF79-11FCF210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95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27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defPPr>
            <a:lvl1pPr>
              <a:defRPr sz="427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1pPr>
            <a:lvl2pPr>
              <a:defRPr sz="427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2pPr>
            <a:lvl3pPr>
              <a:defRPr sz="427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3pPr>
            <a:lvl4pPr>
              <a:defRPr sz="427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4pPr>
            <a:lvl5pPr>
              <a:defRPr sz="427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5pPr>
            <a:lvl6pPr>
              <a:defRPr sz="427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6pPr>
            <a:lvl7pPr>
              <a:defRPr sz="427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7pPr>
            <a:lvl8pPr>
              <a:defRPr sz="427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8pPr>
            <a:lvl9pPr>
              <a:defRPr sz="427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427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pPr>
            <a:r>
              <a:rPr sz="4275" b="1">
                <a:solidFill>
                  <a:srgbClr val="F1ECE2"/>
                </a:solidFill>
                <a:latin typeface="Tektur"/>
                <a:ea typeface="Tektur"/>
                <a:cs typeface="Tektur"/>
              </a:rPr>
              <a:t>ПЕРВЫЕ 90 ДНЕЙ</a:t>
            </a:r>
          </a:p>
          <a:p xmlns:a="http://schemas.openxmlformats.org/drawingml/2006/main">
            <a:pPr>
              <a:defRPr sz="4275" b="1">
                <a:solidFill>
                  <a:srgbClr val="F1ECE2"/>
                </a:solidFill>
                <a:latin typeface="Tektur"/>
                <a:ea typeface="Tektur"/>
                <a:cs typeface="Tektur"/>
              </a:defRPr>
            </a:pPr>
            <a:r>
              <a:rPr sz="4275" b="1">
                <a:solidFill>
                  <a:srgbClr val="F1ECE2"/>
                </a:solidFill>
                <a:latin typeface="Tektur"/>
                <a:ea typeface="Tektur"/>
                <a:cs typeface="Tektur"/>
              </a:rPr>
              <a:t>С ЛИЧНЫМ ПЛАНОМ</a:t>
            </a:r>
          </a:p>
        </p:txBody>
      </p:sp>
      <p:sp>
        <p:nvSpPr>
          <p:cNvPr id="5" name="Ищем вуз для проверки правил&#10;и пилота с иностранными студент">
            <a:extLst xmlns:a="http://schemas.openxmlformats.org/drawingml/2006/main">
              <a:ext uri="{FF2B5EF4-FFF2-40B4-BE49-F238E27FC236}">
                <a16:creationId xmlns:a16="http://schemas.microsoft.com/office/drawing/2014/main" id="{9105A166-2D20-4021-807A-C72907E42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668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9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defPPr>
            <a:lvl1pPr>
              <a:defRPr sz="29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1pPr>
            <a:lvl2pPr>
              <a:defRPr sz="29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2pPr>
            <a:lvl3pPr>
              <a:defRPr sz="29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3pPr>
            <a:lvl4pPr>
              <a:defRPr sz="29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4pPr>
            <a:lvl5pPr>
              <a:defRPr sz="29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5pPr>
            <a:lvl6pPr>
              <a:defRPr sz="29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6pPr>
            <a:lvl7pPr>
              <a:defRPr sz="29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7pPr>
            <a:lvl8pPr>
              <a:defRPr sz="29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8pPr>
            <a:lvl9pPr>
              <a:defRPr sz="29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9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pPr>
            <a:r>
              <a:rPr sz="2925" b="0">
                <a:solidFill>
                  <a:srgbClr val="F1ECE2"/>
                </a:solidFill>
                <a:latin typeface="PT Sans"/>
                <a:ea typeface="PT Sans"/>
                <a:cs typeface="PT Sans"/>
              </a:rPr>
              <a:t>Ищем вуз для проверки правил</a:t>
            </a:r>
          </a:p>
          <a:p xmlns:a="http://schemas.openxmlformats.org/drawingml/2006/main">
            <a:pPr>
              <a:defRPr sz="29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pPr>
            <a:r>
              <a:rPr sz="2925" b="0">
                <a:solidFill>
                  <a:srgbClr val="F1ECE2"/>
                </a:solidFill>
                <a:latin typeface="PT Sans"/>
                <a:ea typeface="PT Sans"/>
                <a:cs typeface="PT Sans"/>
              </a:rPr>
              <a:t>и пилота с иностранными студентами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1DA654-8EA3-49B3-84C8-59D05568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53025"/>
            <a:ext cx="10972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151B"/>
          </a:solidFill>
          <a:ln xmlns:a="http://schemas.openxmlformats.org/drawingml/2006/main" w="0">
            <a:noFill/>
          </a:ln>
        </p:spPr>
      </p:sp>
      <p:sp>
        <p:nvSpPr>
          <p:cNvPr id="7" name="max.ru/t149_hakaton_max_bot">
            <a:extLst xmlns:a="http://schemas.openxmlformats.org/drawingml/2006/main">
              <a:ext uri="{FF2B5EF4-FFF2-40B4-BE49-F238E27FC236}">
                <a16:creationId xmlns:a16="http://schemas.microsoft.com/office/drawing/2014/main" id="{90F7FF24-ED9A-42D7-81A8-49E58DB09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defPPr>
            <a:lvl1pPr>
              <a:defRPr sz="20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1pPr>
            <a:lvl2pPr>
              <a:defRPr sz="20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2pPr>
            <a:lvl3pPr>
              <a:defRPr sz="20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3pPr>
            <a:lvl4pPr>
              <a:defRPr sz="20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4pPr>
            <a:lvl5pPr>
              <a:defRPr sz="20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5pPr>
            <a:lvl6pPr>
              <a:defRPr sz="20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6pPr>
            <a:lvl7pPr>
              <a:defRPr sz="20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7pPr>
            <a:lvl8pPr>
              <a:defRPr sz="20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8pPr>
            <a:lvl9pPr>
              <a:defRPr sz="20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1ECE2"/>
                </a:solidFill>
                <a:latin typeface="PT Sans"/>
                <a:ea typeface="PT Sans"/>
                <a:cs typeface="PT Sans"/>
              </a:defRPr>
            </a:pPr>
            <a:r>
              <a:rPr sz="2025" b="0">
                <a:solidFill>
                  <a:srgbClr val="F1ECE2"/>
                </a:solidFill>
                <a:latin typeface="PT Sans"/>
                <a:ea typeface="PT Sans"/>
                <a:cs typeface="PT Sans"/>
                <a:hlinkClick xmlns:r="http://schemas.openxmlformats.org/officeDocument/2006/relationships" r:id="R5f3af52e95e44e9e"/>
              </a:rPr>
              <a:t>max.ru/t149_hakaton_max_bot</a:t>
            </a:r>
          </a:p>
        </p:txBody>
      </p:sp>
    </p:spTree>
    <p:extLst>
      <p:ext uri="{BB962C8B-B14F-4D97-AF65-F5344CB8AC3E}">
        <p14:creationId xmlns:p14="http://schemas.microsoft.com/office/powerpoint/2010/main" val="161966945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1ECE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ИЛОЖЕНИЕ / ОТЗЫВ ЖЮРИ">
            <a:extLst xmlns:a="http://schemas.openxmlformats.org/drawingml/2006/main">
              <a:ext uri="{FF2B5EF4-FFF2-40B4-BE49-F238E27FC236}">
                <a16:creationId xmlns:a16="http://schemas.microsoft.com/office/drawing/2014/main" id="{6FC7352D-38F4-446E-BC51-1F417C0B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ПРИЛОЖЕНИЕ / ОТЗЫВ ЖЮРИ</a:t>
            </a:r>
          </a:p>
        </p:txBody>
      </p:sp>
      <p:sp>
        <p:nvSpPr>
          <p:cNvPr id="2" name="10">
            <a:extLst xmlns:a="http://schemas.openxmlformats.org/drawingml/2006/main">
              <a:ext uri="{FF2B5EF4-FFF2-40B4-BE49-F238E27FC236}">
                <a16:creationId xmlns:a16="http://schemas.microsoft.com/office/drawing/2014/main" id="{50EBF707-9DE9-4867-B010-D7B7E9F0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7622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BA78BC-A019-4FC9-B376-F6DF768DE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4" name="ЧТО ИЗМЕНИЛИ&#10;ПОСЛЕ ОБРАТНОЙ СВЯЗИ">
            <a:extLst xmlns:a="http://schemas.openxmlformats.org/drawingml/2006/main">
              <a:ext uri="{FF2B5EF4-FFF2-40B4-BE49-F238E27FC236}">
                <a16:creationId xmlns:a16="http://schemas.microsoft.com/office/drawing/2014/main" id="{47F24FA2-78E4-40CF-A3CA-08331149E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95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36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36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36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36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36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36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36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36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36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36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367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ЧТО ИЗМЕНИЛИ</a:t>
            </a:r>
          </a:p>
          <a:p xmlns:a="http://schemas.openxmlformats.org/drawingml/2006/main">
            <a:pPr>
              <a:defRPr sz="36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367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ПОСЛЕ ОБРАТНОЙ СВЯЗИ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E28DF7-5A2E-4B4B-B7FC-2D5FAC70C1CF}"/>
              </a:ext>
            </a:extLst>
          </p:cNvPr>
          <p:cNvGraphicFramePr/>
          <p:nvPr/>
        </p:nvGraphicFramePr>
        <p:xfrm>
          <a:off xmlns:a="http://schemas.openxmlformats.org/drawingml/2006/main" x="609600" y="3048000"/>
          <a:ext xmlns:a="http://schemas.openxmlformats.org/drawingml/2006/main" cx="10972800" cy="2809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936625">
                <a:tc>
                  <a:txBody>
                    <a:bodyPr lIns="152400" tIns="152400" rIns="152400" bIns="152400"/>
                    <a:lstStyle/>
                    <a:p>
                      <a:r>
                        <a:rPr sz="1950">
                          <a:solidFill>
                            <a:srgbClr val="F1ECE2"/>
                          </a:solidFill>
                          <a:latin typeface="PT Sans"/>
                          <a:ea typeface="PT Sans"/>
                          <a:cs typeface="PT Sans"/>
                        </a:rPr>
                        <a:t>Помочь раньше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B3A8"/>
                      </a:solidFill>
                      <a:prstDash val="solid"/>
                    </a:lnL>
                    <a:lnR w="9525">
                      <a:solidFill>
                        <a:srgbClr val="B9B3A8"/>
                      </a:solidFill>
                      <a:prstDash val="solid"/>
                    </a:lnR>
                    <a:lnT w="9525">
                      <a:solidFill>
                        <a:srgbClr val="B9B3A8"/>
                      </a:solidFill>
                      <a:prstDash val="solid"/>
                    </a:lnT>
                    <a:lnB w="9525">
                      <a:solidFill>
                        <a:srgbClr val="B9B3A8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52400" tIns="152400" rIns="152400" bIns="152400"/>
                    <a:lstStyle/>
                    <a:p>
                      <a:r>
                        <a:rPr sz="1950">
                          <a:solidFill>
                            <a:srgbClr val="151515"/>
                          </a:solidFill>
                          <a:latin typeface="PT Sans"/>
                          <a:ea typeface="PT Sans"/>
                          <a:cs typeface="PT Sans"/>
                        </a:rPr>
                        <a:t>Карточки до въезда уже в коде. Поступление — направление исследования.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B3A8"/>
                      </a:solidFill>
                      <a:prstDash val="solid"/>
                    </a:lnR>
                    <a:lnT w="9525">
                      <a:solidFill>
                        <a:srgbClr val="B9B3A8"/>
                      </a:solidFill>
                      <a:prstDash val="solid"/>
                    </a:lnT>
                    <a:lnB w="9525">
                      <a:solidFill>
                        <a:srgbClr val="B9B3A8"/>
                      </a:solidFill>
                      <a:prstDash val="solid"/>
                    </a:lnB>
                    <a:solidFill>
                      <a:srgbClr val="F1ECE2"/>
                    </a:solidFill>
                  </a:tcPr>
                </a:tc>
              </a:tr>
              <a:tr h="936625">
                <a:tc>
                  <a:txBody>
                    <a:bodyPr lIns="152400" tIns="152400" rIns="152400" bIns="152400"/>
                    <a:lstStyle/>
                    <a:p>
                      <a:r>
                        <a:rPr sz="1950">
                          <a:solidFill>
                            <a:srgbClr val="F1ECE2"/>
                          </a:solidFill>
                          <a:latin typeface="PT Sans"/>
                          <a:ea typeface="PT Sans"/>
                          <a:cs typeface="PT Sans"/>
                        </a:rPr>
                        <a:t>Обосновать спрос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B3A8"/>
                      </a:solidFill>
                      <a:prstDash val="solid"/>
                    </a:lnL>
                    <a:lnR w="9525">
                      <a:solidFill>
                        <a:srgbClr val="B9B3A8"/>
                      </a:solidFill>
                      <a:prstDash val="solid"/>
                    </a:lnR>
                    <a:lnB w="9525">
                      <a:solidFill>
                        <a:srgbClr val="B9B3A8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52400" tIns="152400" rIns="152400" bIns="152400"/>
                    <a:lstStyle/>
                    <a:p>
                      <a:r>
                        <a:rPr sz="1950">
                          <a:solidFill>
                            <a:srgbClr val="151515"/>
                          </a:solidFill>
                          <a:latin typeface="PT Sans"/>
                          <a:ea typeface="PT Sans"/>
                          <a:cs typeface="PT Sans"/>
                        </a:rPr>
                        <a:t>Отделили источники проблемы от спроса. Задали проверку гипотезы.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B3A8"/>
                      </a:solidFill>
                      <a:prstDash val="solid"/>
                    </a:lnR>
                    <a:lnB w="9525">
                      <a:solidFill>
                        <a:srgbClr val="B9B3A8"/>
                      </a:solidFill>
                      <a:prstDash val="solid"/>
                    </a:lnB>
                    <a:solidFill>
                      <a:srgbClr val="F1ECE2"/>
                    </a:solidFill>
                  </a:tcPr>
                </a:tc>
              </a:tr>
              <a:tr h="936625">
                <a:tc>
                  <a:txBody>
                    <a:bodyPr lIns="152400" tIns="152400" rIns="152400" bIns="152400"/>
                    <a:lstStyle/>
                    <a:p>
                      <a:r>
                        <a:rPr sz="1950">
                          <a:solidFill>
                            <a:srgbClr val="F1ECE2"/>
                          </a:solidFill>
                          <a:latin typeface="PT Sans"/>
                          <a:ea typeface="PT Sans"/>
                          <a:cs typeface="PT Sans"/>
                        </a:rPr>
                        <a:t>Изменить формат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9B3A8"/>
                      </a:solidFill>
                      <a:prstDash val="solid"/>
                    </a:lnL>
                    <a:lnR w="9525">
                      <a:solidFill>
                        <a:srgbClr val="B9B3A8"/>
                      </a:solidFill>
                      <a:prstDash val="solid"/>
                    </a:lnR>
                    <a:lnB w="9525">
                      <a:solidFill>
                        <a:srgbClr val="B9B3A8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52400" tIns="152400" rIns="152400" bIns="152400"/>
                    <a:lstStyle/>
                    <a:p>
                      <a:r>
                        <a:rPr sz="1950">
                          <a:solidFill>
                            <a:srgbClr val="151515"/>
                          </a:solidFill>
                          <a:latin typeface="PT Sans"/>
                          <a:ea typeface="PT Sans"/>
                          <a:cs typeface="PT Sans"/>
                        </a:rPr>
                        <a:t>Крупные тезисы и показ продукта. Технические подробности — в приложении.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9B3A8"/>
                      </a:solidFill>
                      <a:prstDash val="solid"/>
                    </a:lnR>
                    <a:lnB w="9525">
                      <a:solidFill>
                        <a:srgbClr val="B9B3A8"/>
                      </a:solidFill>
                      <a:prstDash val="solid"/>
                    </a:lnB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27672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1ECE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ПРИЛОЖЕНИЕ / ДО ПОСТУПЛЕНИЯ">
            <a:extLst xmlns:a="http://schemas.openxmlformats.org/drawingml/2006/main">
              <a:ext uri="{FF2B5EF4-FFF2-40B4-BE49-F238E27FC236}">
                <a16:creationId xmlns:a16="http://schemas.microsoft.com/office/drawing/2014/main" id="{83DDEE1F-FBE6-43E2-A183-1E9FF501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ПРИЛОЖЕНИЕ / ДО ПОСТУПЛЕНИЯ</a:t>
            </a:r>
          </a:p>
        </p:txBody>
      </p:sp>
      <p:sp>
        <p:nvSpPr>
          <p:cNvPr id="2" name="11">
            <a:extLst xmlns:a="http://schemas.openxmlformats.org/drawingml/2006/main">
              <a:ext uri="{FF2B5EF4-FFF2-40B4-BE49-F238E27FC236}">
                <a16:creationId xmlns:a16="http://schemas.microsoft.com/office/drawing/2014/main" id="{4D1C6727-7EF9-4F25-832A-A8712527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7622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8B00DE-B3A7-4E95-9E04-4D5BBD35A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4" name="СЛЕДУЮЩИЙ ЭТАП&#10;ТРЕБУЕТ ИССЛЕДОВАНИЯ">
            <a:extLst xmlns:a="http://schemas.openxmlformats.org/drawingml/2006/main">
              <a:ext uri="{FF2B5EF4-FFF2-40B4-BE49-F238E27FC236}">
                <a16:creationId xmlns:a16="http://schemas.microsoft.com/office/drawing/2014/main" id="{D962D377-B992-4E58-9C91-39AAF9F5C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95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427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СЛЕДУЮЩИЙ ЭТАП</a:t>
            </a:r>
          </a:p>
          <a:p xmlns:a="http://schemas.openxmlformats.org/drawingml/2006/main">
            <a: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427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ТРЕБУЕТ ИССЛЕДОВАНИЯ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FF7BCE-16BA-49FB-8232-B5B2CEA1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3A8"/>
          </a:solidFill>
          <a:ln xmlns:a="http://schemas.openxmlformats.org/drawingml/2006/main" w="0">
            <a:noFill/>
          </a:ln>
        </p:spPr>
      </p:sp>
      <p:sp>
        <p:nvSpPr>
          <p:cNvPr id="6" name="01">
            <a:extLst xmlns:a="http://schemas.openxmlformats.org/drawingml/2006/main">
              <a:ext uri="{FF2B5EF4-FFF2-40B4-BE49-F238E27FC236}">
                <a16:creationId xmlns:a16="http://schemas.microsoft.com/office/drawing/2014/main" id="{AEC182F4-A3E1-41C3-A902-D97A8A6C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3300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01</a:t>
            </a:r>
          </a:p>
        </p:txBody>
      </p:sp>
      <p:sp>
        <p:nvSpPr>
          <p:cNvPr id="7" name="Как абитуриент выбирает вуз?">
            <a:extLst xmlns:a="http://schemas.openxmlformats.org/drawingml/2006/main">
              <a:ext uri="{FF2B5EF4-FFF2-40B4-BE49-F238E27FC236}">
                <a16:creationId xmlns:a16="http://schemas.microsoft.com/office/drawing/2014/main" id="{06CEC0C1-D9E0-4C52-BB75-0290E7B2C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38500"/>
            <a:ext cx="952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40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Как абитуриент выбирает вуз?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FCD148-66A8-49F6-B64E-3E8E623E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3A8"/>
          </a:solidFill>
          <a:ln xmlns:a="http://schemas.openxmlformats.org/drawingml/2006/main" w="0">
            <a:noFill/>
          </a:ln>
        </p:spPr>
      </p:sp>
      <p:sp>
        <p:nvSpPr>
          <p:cNvPr id="9" name="02">
            <a:extLst xmlns:a="http://schemas.openxmlformats.org/drawingml/2006/main">
              <a:ext uri="{FF2B5EF4-FFF2-40B4-BE49-F238E27FC236}">
                <a16:creationId xmlns:a16="http://schemas.microsoft.com/office/drawing/2014/main" id="{C2571CFB-AAFA-4ED9-8CC7-44721F5C9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3300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02</a:t>
            </a:r>
          </a:p>
        </p:txBody>
      </p:sp>
      <p:sp>
        <p:nvSpPr>
          <p:cNvPr id="10" name="Где возникает затруднение при подаче?">
            <a:extLst xmlns:a="http://schemas.openxmlformats.org/drawingml/2006/main">
              <a:ext uri="{FF2B5EF4-FFF2-40B4-BE49-F238E27FC236}">
                <a16:creationId xmlns:a16="http://schemas.microsoft.com/office/drawing/2014/main" id="{07825691-3EFC-4F32-A0C2-1493A0FD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00525"/>
            <a:ext cx="952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40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Где возникает затруднение при подаче?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683BD0-DC16-406F-8D74-784FB9602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3A8"/>
          </a:solidFill>
          <a:ln xmlns:a="http://schemas.openxmlformats.org/drawingml/2006/main" w="0">
            <a:noFill/>
          </a:ln>
        </p:spPr>
      </p:sp>
      <p:sp>
        <p:nvSpPr>
          <p:cNvPr id="12" name="03">
            <a:extLst xmlns:a="http://schemas.openxmlformats.org/drawingml/2006/main">
              <a:ext uri="{FF2B5EF4-FFF2-40B4-BE49-F238E27FC236}">
                <a16:creationId xmlns:a16="http://schemas.microsoft.com/office/drawing/2014/main" id="{111169A7-2C89-4C37-8CAC-44EBF17C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3300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03</a:t>
            </a:r>
          </a:p>
        </p:txBody>
      </p:sp>
      <p:sp>
        <p:nvSpPr>
          <p:cNvPr id="13" name="Как он находит поддержку и гранты?">
            <a:extLst xmlns:a="http://schemas.openxmlformats.org/drawingml/2006/main">
              <a:ext uri="{FF2B5EF4-FFF2-40B4-BE49-F238E27FC236}">
                <a16:creationId xmlns:a16="http://schemas.microsoft.com/office/drawing/2014/main" id="{31628834-8C6D-448A-A585-C3564F74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162550"/>
            <a:ext cx="952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40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Как он находит поддержку и гранты?</a:t>
            </a:r>
          </a:p>
        </p:txBody>
      </p:sp>
      <p:sp>
        <p:nvSpPr>
          <p:cNvPr id="14" name="Вопросы для исследования. Эти функции в текущем продукте не ">
            <a:extLst xmlns:a="http://schemas.openxmlformats.org/drawingml/2006/main">
              <a:ext uri="{FF2B5EF4-FFF2-40B4-BE49-F238E27FC236}">
                <a16:creationId xmlns:a16="http://schemas.microsoft.com/office/drawing/2014/main" id="{E2E82E5C-511E-45BD-B04A-1F1EE4E8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defPPr>
            <a:lvl1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1pPr>
            <a:lvl2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2pPr>
            <a:lvl3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3pPr>
            <a:lvl4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4pPr>
            <a:lvl5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5pPr>
            <a:lvl6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6pPr>
            <a:lvl7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7pPr>
            <a:lvl8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8pPr>
            <a:lvl9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B675F"/>
                </a:solidFill>
                <a:latin typeface="PT Sans"/>
                <a:ea typeface="PT Sans"/>
                <a:cs typeface="PT Sans"/>
              </a:defRPr>
            </a:pPr>
            <a:r>
              <a:rPr sz="1425" b="0">
                <a:solidFill>
                  <a:srgbClr val="6B675F"/>
                </a:solidFill>
                <a:latin typeface="PT Sans"/>
                <a:ea typeface="PT Sans"/>
                <a:cs typeface="PT Sans"/>
              </a:rPr>
              <a:t>Вопросы для исследования. Эти функции в текущем продукте не реализованы.</a:t>
            </a:r>
          </a:p>
        </p:txBody>
      </p:sp>
    </p:spTree>
    <p:extLst>
      <p:ext uri="{BB962C8B-B14F-4D97-AF65-F5344CB8AC3E}">
        <p14:creationId xmlns:p14="http://schemas.microsoft.com/office/powerpoint/2010/main" val="55783668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1ECE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РИЛОЖЕНИЕ / УСТРОЙСТВО">
            <a:extLst xmlns:a="http://schemas.openxmlformats.org/drawingml/2006/main">
              <a:ext uri="{FF2B5EF4-FFF2-40B4-BE49-F238E27FC236}">
                <a16:creationId xmlns:a16="http://schemas.microsoft.com/office/drawing/2014/main" id="{DDA0A031-9EFF-4EBC-A5EF-1A5B0189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ПРИЛОЖЕНИЕ / УСТРОЙСТВО</a:t>
            </a:r>
          </a:p>
        </p:txBody>
      </p:sp>
      <p:sp>
        <p:nvSpPr>
          <p:cNvPr id="2" name="12">
            <a:extLst xmlns:a="http://schemas.openxmlformats.org/drawingml/2006/main">
              <a:ext uri="{FF2B5EF4-FFF2-40B4-BE49-F238E27FC236}">
                <a16:creationId xmlns:a16="http://schemas.microsoft.com/office/drawing/2014/main" id="{E10F87B0-8A5B-48BA-8914-B8D7B7446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7622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CE3FFD-BB9B-423E-9247-78258358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4" name="ПРАВИЛА В ДАННЫХ.&#10;СОСТОЯНИЕ НА СЕРВЕРЕ.">
            <a:extLst xmlns:a="http://schemas.openxmlformats.org/drawingml/2006/main">
              <a:ext uri="{FF2B5EF4-FFF2-40B4-BE49-F238E27FC236}">
                <a16:creationId xmlns:a16="http://schemas.microsoft.com/office/drawing/2014/main" id="{F30F0DBB-C073-4540-A232-1FFF74F7A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95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427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ПРАВИЛА В ДАННЫХ.</a:t>
            </a:r>
          </a:p>
          <a:p xmlns:a="http://schemas.openxmlformats.org/drawingml/2006/main">
            <a: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427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СОСТОЯНИЕ НА СЕРВЕРЕ.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A1C642-132A-4B3E-9384-75A8F439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3A8"/>
          </a:solidFill>
          <a:ln xmlns:a="http://schemas.openxmlformats.org/drawingml/2006/main" w="0">
            <a:noFill/>
          </a:ln>
        </p:spPr>
      </p:sp>
      <p:sp>
        <p:nvSpPr>
          <p:cNvPr id="6" name="01">
            <a:extLst xmlns:a="http://schemas.openxmlformats.org/drawingml/2006/main">
              <a:ext uri="{FF2B5EF4-FFF2-40B4-BE49-F238E27FC236}">
                <a16:creationId xmlns:a16="http://schemas.microsoft.com/office/drawing/2014/main" id="{FA96CBE9-32D4-4491-80FD-CF62BAAB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3300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01</a:t>
            </a:r>
          </a:p>
        </p:txBody>
      </p:sp>
      <p:sp>
        <p:nvSpPr>
          <p:cNvPr id="7" name="Чат и мини-приложение используют одну сессию">
            <a:extLst xmlns:a="http://schemas.openxmlformats.org/drawingml/2006/main">
              <a:ext uri="{FF2B5EF4-FFF2-40B4-BE49-F238E27FC236}">
                <a16:creationId xmlns:a16="http://schemas.microsoft.com/office/drawing/2014/main" id="{84871F26-F97E-4BF3-B2AF-951117EB7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38500"/>
            <a:ext cx="952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40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Чат и мини-приложение используют одну сессию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51F024-EA68-47C5-B28F-57AF7B39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3A8"/>
          </a:solidFill>
          <a:ln xmlns:a="http://schemas.openxmlformats.org/drawingml/2006/main" w="0">
            <a:noFill/>
          </a:ln>
        </p:spPr>
      </p:sp>
      <p:sp>
        <p:nvSpPr>
          <p:cNvPr id="9" name="02">
            <a:extLst xmlns:a="http://schemas.openxmlformats.org/drawingml/2006/main">
              <a:ext uri="{FF2B5EF4-FFF2-40B4-BE49-F238E27FC236}">
                <a16:creationId xmlns:a16="http://schemas.microsoft.com/office/drawing/2014/main" id="{793E060C-93B5-4515-9FD5-119F46D13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3300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02</a:t>
            </a:r>
          </a:p>
        </p:txBody>
      </p:sp>
      <p:sp>
        <p:nvSpPr>
          <p:cNvPr id="10" name="Явный расчёт по правилам, без LLM-решений">
            <a:extLst xmlns:a="http://schemas.openxmlformats.org/drawingml/2006/main">
              <a:ext uri="{FF2B5EF4-FFF2-40B4-BE49-F238E27FC236}">
                <a16:creationId xmlns:a16="http://schemas.microsoft.com/office/drawing/2014/main" id="{13FF9D73-AB64-4B14-A9D5-68E4F2D2A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00525"/>
            <a:ext cx="952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40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Явный расчёт по правилам, без LLM-решений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2DED43-494F-44DB-B928-EEC7B84A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3A8"/>
          </a:solidFill>
          <a:ln xmlns:a="http://schemas.openxmlformats.org/drawingml/2006/main" w="0">
            <a:noFill/>
          </a:ln>
        </p:spPr>
      </p:sp>
      <p:sp>
        <p:nvSpPr>
          <p:cNvPr id="12" name="03">
            <a:extLst xmlns:a="http://schemas.openxmlformats.org/drawingml/2006/main">
              <a:ext uri="{FF2B5EF4-FFF2-40B4-BE49-F238E27FC236}">
                <a16:creationId xmlns:a16="http://schemas.microsoft.com/office/drawing/2014/main" id="{8A6AD511-1BC7-4678-AD19-4FF97A2A8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3300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03</a:t>
            </a:r>
          </a:p>
        </p:txBody>
      </p:sp>
      <p:sp>
        <p:nvSpPr>
          <p:cNvPr id="13" name="PostgreSQL хранит профиль и очередь сообщений">
            <a:extLst xmlns:a="http://schemas.openxmlformats.org/drawingml/2006/main">
              <a:ext uri="{FF2B5EF4-FFF2-40B4-BE49-F238E27FC236}">
                <a16:creationId xmlns:a16="http://schemas.microsoft.com/office/drawing/2014/main" id="{C3D29CDA-4FE3-4970-87F2-AFE964C7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162550"/>
            <a:ext cx="952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40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PostgreSQL хранит профиль и очередь сообщений</a:t>
            </a:r>
          </a:p>
        </p:txBody>
      </p:sp>
    </p:spTree>
    <p:extLst>
      <p:ext uri="{BB962C8B-B14F-4D97-AF65-F5344CB8AC3E}">
        <p14:creationId xmlns:p14="http://schemas.microsoft.com/office/powerpoint/2010/main" val="170351400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1ECE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РИЛОЖЕНИЕ / ГРАНИЦЫ">
            <a:extLst xmlns:a="http://schemas.openxmlformats.org/drawingml/2006/main">
              <a:ext uri="{FF2B5EF4-FFF2-40B4-BE49-F238E27FC236}">
                <a16:creationId xmlns:a16="http://schemas.microsoft.com/office/drawing/2014/main" id="{DDD12588-AB14-4ED9-BEB0-AF45A9A4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ПРИЛОЖЕНИЕ / ГРАНИЦЫ</a:t>
            </a:r>
          </a:p>
        </p:txBody>
      </p:sp>
      <p:sp>
        <p:nvSpPr>
          <p:cNvPr id="2" name="13">
            <a:extLst xmlns:a="http://schemas.openxmlformats.org/drawingml/2006/main">
              <a:ext uri="{FF2B5EF4-FFF2-40B4-BE49-F238E27FC236}">
                <a16:creationId xmlns:a16="http://schemas.microsoft.com/office/drawing/2014/main" id="{94CB9BCC-0CB9-4A96-9C0B-4B3F39DA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7622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142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EDF0A2-1DD0-4970-B0EC-91E74DEC9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</a:ln>
        </p:spPr>
      </p:sp>
      <p:sp>
        <p:nvSpPr>
          <p:cNvPr id="4" name="ПОДГОТОВКА&#10;К ОФИЦИАЛЬНОМУ ШАГУ">
            <a:extLst xmlns:a="http://schemas.openxmlformats.org/drawingml/2006/main">
              <a:ext uri="{FF2B5EF4-FFF2-40B4-BE49-F238E27FC236}">
                <a16:creationId xmlns:a16="http://schemas.microsoft.com/office/drawing/2014/main" id="{9CC056B6-DE1B-4971-9FA9-5024F4E3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95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defPPr>
            <a:lvl1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1pPr>
            <a:lvl2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2pPr>
            <a:lvl3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3pPr>
            <a:lvl4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4pPr>
            <a:lvl5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5pPr>
            <a:lvl6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6pPr>
            <a:lvl7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7pPr>
            <a:lvl8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8pPr>
            <a:lvl9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427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ПОДГОТОВКА</a:t>
            </a:r>
          </a:p>
          <a:p xmlns:a="http://schemas.openxmlformats.org/drawingml/2006/main">
            <a:pPr>
              <a:defRPr sz="4275" b="1">
                <a:solidFill>
                  <a:srgbClr val="151515"/>
                </a:solidFill>
                <a:latin typeface="Tektur"/>
                <a:ea typeface="Tektur"/>
                <a:cs typeface="Tektur"/>
              </a:defRPr>
            </a:pPr>
            <a:r>
              <a:rPr sz="4275" b="1">
                <a:solidFill>
                  <a:srgbClr val="151515"/>
                </a:solidFill>
                <a:latin typeface="Tektur"/>
                <a:ea typeface="Tektur"/>
                <a:cs typeface="Tektur"/>
              </a:rPr>
              <a:t>К ОФИЦИАЛЬНОМУ ШАГУ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2F0772-24FF-4AEC-A8A7-7106F5110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3A8"/>
          </a:solidFill>
          <a:ln xmlns:a="http://schemas.openxmlformats.org/drawingml/2006/main" w="0">
            <a:noFill/>
          </a:ln>
        </p:spPr>
      </p:sp>
      <p:sp>
        <p:nvSpPr>
          <p:cNvPr id="6" name="01">
            <a:extLst xmlns:a="http://schemas.openxmlformats.org/drawingml/2006/main">
              <a:ext uri="{FF2B5EF4-FFF2-40B4-BE49-F238E27FC236}">
                <a16:creationId xmlns:a16="http://schemas.microsoft.com/office/drawing/2014/main" id="{0DC3F89D-90CE-4154-A206-0D6E7B392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3300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01</a:t>
            </a:r>
          </a:p>
        </p:txBody>
      </p:sp>
      <p:sp>
        <p:nvSpPr>
          <p:cNvPr id="7" name="Демонстрационные профили">
            <a:extLst xmlns:a="http://schemas.openxmlformats.org/drawingml/2006/main">
              <a:ext uri="{FF2B5EF4-FFF2-40B4-BE49-F238E27FC236}">
                <a16:creationId xmlns:a16="http://schemas.microsoft.com/office/drawing/2014/main" id="{80BE2F57-A912-4352-9DCC-F504E784A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38500"/>
            <a:ext cx="952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40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Демонстрационные профили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BB11FF-EB3B-4854-BBFA-64989E235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3A8"/>
          </a:solidFill>
          <a:ln xmlns:a="http://schemas.openxmlformats.org/drawingml/2006/main" w="0">
            <a:noFill/>
          </a:ln>
        </p:spPr>
      </p:sp>
      <p:sp>
        <p:nvSpPr>
          <p:cNvPr id="9" name="02">
            <a:extLst xmlns:a="http://schemas.openxmlformats.org/drawingml/2006/main">
              <a:ext uri="{FF2B5EF4-FFF2-40B4-BE49-F238E27FC236}">
                <a16:creationId xmlns:a16="http://schemas.microsoft.com/office/drawing/2014/main" id="{07D54548-E77A-49FC-95FB-2EAFF02D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3300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02</a:t>
            </a:r>
          </a:p>
        </p:txBody>
      </p:sp>
      <p:sp>
        <p:nvSpPr>
          <p:cNvPr id="10" name="Без паспортных сканов и медицинских документов">
            <a:extLst xmlns:a="http://schemas.openxmlformats.org/drawingml/2006/main">
              <a:ext uri="{FF2B5EF4-FFF2-40B4-BE49-F238E27FC236}">
                <a16:creationId xmlns:a16="http://schemas.microsoft.com/office/drawing/2014/main" id="{06F282B5-D988-49B5-B67F-73228F2D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00525"/>
            <a:ext cx="952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40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Без паспортных сканов и медицинских документов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2FC38F-7AE3-470F-967D-56E8E265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3A8"/>
          </a:solidFill>
          <a:ln xmlns:a="http://schemas.openxmlformats.org/drawingml/2006/main" w="0">
            <a:noFill/>
          </a:ln>
        </p:spPr>
      </p:sp>
      <p:sp>
        <p:nvSpPr>
          <p:cNvPr id="12" name="03">
            <a:extLst xmlns:a="http://schemas.openxmlformats.org/drawingml/2006/main">
              <a:ext uri="{FF2B5EF4-FFF2-40B4-BE49-F238E27FC236}">
                <a16:creationId xmlns:a16="http://schemas.microsoft.com/office/drawing/2014/main" id="{8F6040C3-6E42-48B2-8D44-C093CFC4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defPPr>
            <a:lvl1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1pPr>
            <a:lvl2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2pPr>
            <a:lvl3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3pPr>
            <a:lvl4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4pPr>
            <a:lvl5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5pPr>
            <a:lvl6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6pPr>
            <a:lvl7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7pPr>
            <a:lvl8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8pPr>
            <a:lvl9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B3151B"/>
                </a:solidFill>
                <a:latin typeface="Tektur"/>
                <a:ea typeface="Tektur"/>
                <a:cs typeface="Tektur"/>
              </a:defRPr>
            </a:pPr>
            <a:r>
              <a:rPr sz="3300" b="1">
                <a:solidFill>
                  <a:srgbClr val="B3151B"/>
                </a:solidFill>
                <a:latin typeface="Tektur"/>
                <a:ea typeface="Tektur"/>
                <a:cs typeface="Tektur"/>
              </a:rPr>
              <a:t>03</a:t>
            </a:r>
          </a:p>
        </p:txBody>
      </p:sp>
      <p:sp>
        <p:nvSpPr>
          <p:cNvPr id="13" name="Без подачи заявлений в МВД или системы вузов">
            <a:extLst xmlns:a="http://schemas.openxmlformats.org/drawingml/2006/main">
              <a:ext uri="{FF2B5EF4-FFF2-40B4-BE49-F238E27FC236}">
                <a16:creationId xmlns:a16="http://schemas.microsoft.com/office/drawing/2014/main" id="{6AF0CBBA-DB9E-4FB6-AC50-8D6F4F2C0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162550"/>
            <a:ext cx="952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defPPr>
            <a:lvl1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1pPr>
            <a:lvl2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2pPr>
            <a:lvl3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3pPr>
            <a:lvl4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4pPr>
            <a:lvl5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5pPr>
            <a:lvl6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6pPr>
            <a:lvl7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7pPr>
            <a:lvl8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8pPr>
            <a:lvl9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51515"/>
                </a:solidFill>
                <a:latin typeface="PT Sans"/>
                <a:ea typeface="PT Sans"/>
                <a:cs typeface="PT Sans"/>
              </a:defRPr>
            </a:pPr>
            <a:r>
              <a:rPr sz="2400" b="0">
                <a:solidFill>
                  <a:srgbClr val="151515"/>
                </a:solidFill>
                <a:latin typeface="PT Sans"/>
                <a:ea typeface="PT Sans"/>
                <a:cs typeface="PT Sans"/>
              </a:rPr>
              <a:t>Без подачи заявлений в МВД или системы вузов</a:t>
            </a:r>
          </a:p>
        </p:txBody>
      </p:sp>
    </p:spTree>
    <p:extLst>
      <p:ext uri="{BB962C8B-B14F-4D97-AF65-F5344CB8AC3E}">
        <p14:creationId xmlns:p14="http://schemas.microsoft.com/office/powerpoint/2010/main" val="15477292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2026-10-24T12:18:30.2940000Z</dcterms:created>
  <dcterms:modified xsi:type="dcterms:W3CDTF">2026-10-24T12:18:30.2940000Z</dcterms:modified>
</coreProperties>
</file>