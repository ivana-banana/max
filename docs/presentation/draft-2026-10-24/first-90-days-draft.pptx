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105a9868a043c2" /><Relationship Type="http://schemas.openxmlformats.org/officeDocument/2006/relationships/extended-properties" Target="/docProps/app.xml" Id="Rdca68d0b8b324664" /><Relationship Type="http://schemas.openxmlformats.org/officeDocument/2006/relationships/officeDocument" Target="/ppt/presentation.xml" Id="R23a0f0689a8a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52e924d384d8f"/>
  </p:sldMasterIdLst>
  <p:notesMasterIdLst>
    <p:notesMasterId xmlns:r="http://schemas.openxmlformats.org/officeDocument/2006/relationships" r:id="R97c3b27abe614b60"/>
  </p:notesMasterIdLst>
  <p:sldIdLst>
    <p:sldId xmlns:r="http://schemas.openxmlformats.org/officeDocument/2006/relationships" id="256" r:id="R52f2d659b7b749e0"/>
    <p:sldId xmlns:r="http://schemas.openxmlformats.org/officeDocument/2006/relationships" id="257" r:id="Rc24ecc52c3354a0f"/>
    <p:sldId xmlns:r="http://schemas.openxmlformats.org/officeDocument/2006/relationships" id="258" r:id="Re4f4d13cc36b498c"/>
    <p:sldId xmlns:r="http://schemas.openxmlformats.org/officeDocument/2006/relationships" id="259" r:id="R9b25bc8a4ec64b63"/>
    <p:sldId xmlns:r="http://schemas.openxmlformats.org/officeDocument/2006/relationships" id="260" r:id="Rf8eac36148e24e44"/>
    <p:sldId xmlns:r="http://schemas.openxmlformats.org/officeDocument/2006/relationships" id="261" r:id="R0954620c7f384bb5"/>
    <p:sldId xmlns:r="http://schemas.openxmlformats.org/officeDocument/2006/relationships" id="262" r:id="Ra3a06c0891fd4890"/>
    <p:sldId xmlns:r="http://schemas.openxmlformats.org/officeDocument/2006/relationships" id="263" r:id="Rb34db27fb56e42c9"/>
    <p:sldId xmlns:r="http://schemas.openxmlformats.org/officeDocument/2006/relationships" id="264" r:id="R7c38c258e5c04c6e"/>
    <p:sldId xmlns:r="http://schemas.openxmlformats.org/officeDocument/2006/relationships" id="265" r:id="R956fbd922d624cac"/>
    <p:sldId xmlns:r="http://schemas.openxmlformats.org/officeDocument/2006/relationships" id="266" r:id="R2f80bb6b6b094711"/>
    <p:sldId xmlns:r="http://schemas.openxmlformats.org/officeDocument/2006/relationships" id="267" r:id="R286ef7e15b6b4a8d"/>
    <p:sldId xmlns:r="http://schemas.openxmlformats.org/officeDocument/2006/relationships" id="268" r:id="R9ab11ebf706042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5f81794ebc43fb" /><Relationship Type="http://schemas.openxmlformats.org/officeDocument/2006/relationships/slideMaster" Target="/ppt/slideMasters/slideMaster1.xml" Id="Rf6652e924d384d8f" /><Relationship Type="http://schemas.openxmlformats.org/officeDocument/2006/relationships/notesMaster" Target="/ppt/notesMasters/notesMaster1.xml" Id="R97c3b27abe614b60" /><Relationship Type="http://schemas.openxmlformats.org/officeDocument/2006/relationships/presProps" Target="/ppt/presProps.xml" Id="R1b9203b7a3f745c6" /><Relationship Type="http://schemas.openxmlformats.org/officeDocument/2006/relationships/tableStyles" Target="/ppt/tableStyles.xml" Id="R31a11be8272d4733" /><Relationship Type="http://schemas.openxmlformats.org/officeDocument/2006/relationships/slide" Target="/ppt/slides/slide1.xml" Id="R52f2d659b7b749e0" /><Relationship Type="http://schemas.openxmlformats.org/officeDocument/2006/relationships/slide" Target="/ppt/slides/slide2.xml" Id="Rc24ecc52c3354a0f" /><Relationship Type="http://schemas.openxmlformats.org/officeDocument/2006/relationships/slide" Target="/ppt/slides/slide3.xml" Id="Re4f4d13cc36b498c" /><Relationship Type="http://schemas.openxmlformats.org/officeDocument/2006/relationships/slide" Target="/ppt/slides/slide4.xml" Id="R9b25bc8a4ec64b63" /><Relationship Type="http://schemas.openxmlformats.org/officeDocument/2006/relationships/slide" Target="/ppt/slides/slide5.xml" Id="Rf8eac36148e24e44" /><Relationship Type="http://schemas.openxmlformats.org/officeDocument/2006/relationships/slide" Target="/ppt/slides/slide6.xml" Id="R0954620c7f384bb5" /><Relationship Type="http://schemas.openxmlformats.org/officeDocument/2006/relationships/slide" Target="/ppt/slides/slide7.xml" Id="Ra3a06c0891fd4890" /><Relationship Type="http://schemas.openxmlformats.org/officeDocument/2006/relationships/slide" Target="/ppt/slides/slide8.xml" Id="Rb34db27fb56e42c9" /><Relationship Type="http://schemas.openxmlformats.org/officeDocument/2006/relationships/slide" Target="/ppt/slides/slide9.xml" Id="R7c38c258e5c04c6e" /><Relationship Type="http://schemas.openxmlformats.org/officeDocument/2006/relationships/slide" Target="/ppt/slides/slide10.xml" Id="R956fbd922d624cac" /><Relationship Type="http://schemas.openxmlformats.org/officeDocument/2006/relationships/slide" Target="/ppt/slides/slide11.xml" Id="R2f80bb6b6b094711" /><Relationship Type="http://schemas.openxmlformats.org/officeDocument/2006/relationships/slide" Target="/ppt/slides/slide12.xml" Id="R286ef7e15b6b4a8d" /><Relationship Type="http://schemas.openxmlformats.org/officeDocument/2006/relationships/slide" Target="/ppt/slides/slide13.xml" Id="R9ab11ebf7060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561c113ac143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acbff972614c54" /><Relationship Type="http://schemas.openxmlformats.org/officeDocument/2006/relationships/notesMaster" Target="/ppt/notesMasters/notesMaster1.xml" Id="Rb8889586f1c445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a07906c0e46e6" /><Relationship Type="http://schemas.openxmlformats.org/officeDocument/2006/relationships/notesMaster" Target="/ppt/notesMasters/notesMaster1.xml" Id="Rd40ad74fdd6040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69af139c64101" /><Relationship Type="http://schemas.openxmlformats.org/officeDocument/2006/relationships/notesMaster" Target="/ppt/notesMasters/notesMaster1.xml" Id="Ra05de9dd7a7d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098e2200664fef" /><Relationship Type="http://schemas.openxmlformats.org/officeDocument/2006/relationships/notesMaster" Target="/ppt/notesMasters/notesMaster1.xml" Id="R4372f15f76ee48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896e0650544b0b" /><Relationship Type="http://schemas.openxmlformats.org/officeDocument/2006/relationships/notesMaster" Target="/ppt/notesMasters/notesMaster1.xml" Id="R9deb993add314e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3b453380249d7" /><Relationship Type="http://schemas.openxmlformats.org/officeDocument/2006/relationships/notesMaster" Target="/ppt/notesMasters/notesMaster1.xml" Id="Rd97e6a757c2344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0909ba6104e74" /><Relationship Type="http://schemas.openxmlformats.org/officeDocument/2006/relationships/notesMaster" Target="/ppt/notesMasters/notesMaster1.xml" Id="R07ab09ab447e45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5484493a0485b" /><Relationship Type="http://schemas.openxmlformats.org/officeDocument/2006/relationships/notesMaster" Target="/ppt/notesMasters/notesMaster1.xml" Id="R0ea44f985a0140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8361c3b5d4c14" /><Relationship Type="http://schemas.openxmlformats.org/officeDocument/2006/relationships/notesMaster" Target="/ppt/notesMasters/notesMaster1.xml" Id="R501e786ee1ed49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b47a5c5b294cdd" /><Relationship Type="http://schemas.openxmlformats.org/officeDocument/2006/relationships/notesMaster" Target="/ppt/notesMasters/notesMaster1.xml" Id="R89bc13488f8e4e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98c5683c894854" /><Relationship Type="http://schemas.openxmlformats.org/officeDocument/2006/relationships/notesMaster" Target="/ppt/notesMasters/notesMaster1.xml" Id="R4bb0b47089fd4a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c6a5bddf1e4ada" /><Relationship Type="http://schemas.openxmlformats.org/officeDocument/2006/relationships/notesMaster" Target="/ppt/notesMasters/notesMaster1.xml" Id="R7652cea033854b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ace4ddf9af4faa" /><Relationship Type="http://schemas.openxmlformats.org/officeDocument/2006/relationships/notesMaster" Target="/ppt/notesMasters/notesMaster1.xml" Id="R3230c16a7701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входит в семь минут. Бот: https://max.ru/t149_hakaton_max_bot. Репозиторий: https://github.com/M1hairu/MAX_GOATed_messenger. По HANDOFF.md на origin/main 1e623e5 на ВМ выкачен код 1761443, протокол 23.10.2026. Здесь не заявляется новый ручной прогон в мобильном и веб-MAX. Режим demo, учебные данные. Интеграций с МВД и внутренними системами вуза нет. Публичный HTTPS: https://81-26-178-75.sslip.io. Источник: HANDOFF.md и docs/verification-2026-10-23.md на 1e623e5.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0:00–0:30, спикер 1. Представьте: вы приехали учиться в другую страну. Вместе с началом учёбы нужно разобраться с обязательными процедурами. Главный вопрос простой: что нужно сделать лично мне и к какому числу? Мы создаём «Первые 90 дней» — помощника в MAX, который превращает дату въезда в личный план. Покажем этот путь на учебном примере иностранного первокурсника КФУ. Это собирательная ситуация, а не история участника интервью. Источники: docs/product/problem.md, docs/product/mvp.md. Подход к цели и аудитории: экспертная сессия 00:04:23–00:14:47.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0:30–1:15, спикер 1. У студента уже есть официальные инструкции. Но между чтением памятки и готовностью действовать остаётся работа: выбрать свой случай, отсчитать сроки от своей даты и понять, какие документы ещё нужны. Мы выбрали именно этот участок пути. В материалах исследования зафиксированы расхождения опубликованных инструкций. При этом интервью и измерения ошибок ещё не проведены: мы не выдаём наличие расхождений за доказанный спрос. Дальше покажем, какую часть подготовки уже поддерживает наш продукт. Источники: docs/product/problem.md, docs/product/hypothesis.md; отсутствие новых результатов подтвердил пользователь 24.10.2026. Не приводим непроверенные размеры штрафов и нормативные сроки. Эксперт: 00:31:10–00:36:06, последовательность проблемы и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1:15–2:00, спикер 2. В чате студент выбирает свой контекст и указывает дату въезда. Продукт рассчитывает календарные даты по правилам из справочника. В карточке процедуры есть подготовка, источник и дата его сверки. Напоминания возвращают к незавершённому шагу. В мини-приложении тот же план можно просмотреть целиком, без повторной анкеты. Расчёт выполняется по явным правилам. Нейросеть не определяет нормативный срок. Это подготовка к официальным процедурам; документы студент подаёт по установленным каналам. Источники: docs/product/mvp.md, src/core/deadlines.ts, src/bot/service.ts. Изображение: собственный скриншот docs/presentation/screens/chat-plan.jpg, MAX 25.09.2026, учебный профиль.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2:00–3:45, спикер 2, показ продукта. Перед защитой проверить сценарий на актуальном коде в мобильном и веб-MAX. На сцене используем заранее подготовленный учебный профиль, говорим об этом вслух. Реплики: «Вот личный план. Откроем одну процедуру: здесь её дата, подготовка и основание. Отметим подготовленные документы. Теперь включим напоминания — студент сможет вернуться к этой процедуре из чата». Показать общий профиль в мини-приложении, если оно открывается на телефоне показа. Не ждать напоминание молча: фактическую доставку показать только если заранее настроен корректный учебный сценарий. Не изображать ускорение времени как реальный недельный интервал. Если на показе сбой: назвать его и показать этот сохранённый скриншот с датой, не выдавая его за текущую версию. Лимит 1:45 — предложение для репетиции, не измеренный результат. Источники: docs/demo.md, docs/presentation/screens/app-card.jpg.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3:45–4:30, спикер 3. После онлайн-этапа мы расширили тот же пользовательский путь. Появилась подготовка до въезда. В продукте есть профили трёх вузов с их инструкциями и контактами. План можно получить в PDF и передать куратору. Это доработки продукта, а не подтверждённые внедрения в перечисленных вузах. Имена вузов обозначают профили по открытым источникам. Источники: git diff submit-online..1e623e5, src/data/universities/kfu.json, itmo.json, spbgeu.json, src/bot/pdf.ts, src/bot/dialog.ts. Код на ВМ по протоколу: 1761443. Состояние ручной проверки — HANDOFF.md.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4:30–5:15, спикер 3. Мы меняем конкретный участок подготовки. Общая инструкция дополняется планом по введённым данным, документы собраны в карточке, а к сроку возвращает напоминание. Студент по-прежнему проходит официальные процедуры сам. Польза, которую мы хотим проверить, — сможет ли человек быстрее и правильнее подготовить план без помощи автора. Снижение просрочек и повторных визитов пока остаётся гипотезой. Источники: docs/product/as-is-to-be.md, docs/product/hypothesis.md. Контраст используется для объяснения механики, не как результат пользовательского исследования.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5:15–6:00, спикер 4. Следующий шаг — проверка с одним вузом. КФУ рассматриваем как кандидата, договорённости о пилоте пока нет. Сначала сотрудник миграционного сопровождения проверяет правила и контрольные задания. Затем предлагаем десять–пятнадцать наблюдаемых сессий: сравниваем подготовку по памятке и с продуктом. Измеряем время, правильность дат и самостоятельность. Для реальных пользователей отдельно согласуем обработку данных. Если проверка успешна, можно переходить к более длительному пилоту. Источники: docs/product/pilot.md, docs/product/hypothesis.md. Все количества — план исследования, не состоявшийся набор.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6:00–6:35, спикер 4. Для переноса мы отделили общую логику от информации конкретного вуза. Расчёт и напоминания остаются общими. Меняются инструкции, контакты, места и локальные требования. Профили КФУ, ИТМО и СПбГЭУ уже описаны в данных. Это проверка устройства продукта, а не доказательство готовности вузов его внедрять. Перед запуском в новом вузе данные должен подтвердить ответственный сотрудник. Источники: docs/product/scaling.md, docs/add-university.md, src/data/loadUniversities.ts и src/data/universities/*.json.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6:35–7:00, спикер 4. «Первые 90 дней» дают студенту личный план подготовки в MAX: свою дату, документы и напоминание о следующем шаге. Сейчас нам нужен вуз для независимой проверки правил и пилота с первокурсниками. Мы готовы показать сценарий и обсудить условия такой проверки. Спасибо, готовы к вопросам. Призыв к действию — предложение команды, не факт о поддержке организаторов. Источники: docs/product/pilot.md, пользовательский сценарий docs/product/mvp.md.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Открывать по техническому вопросу. Архитектура: один Node.js-процесс, официальный SDK MAX, веб-интерфейс React, PostgreSQL. Срок рассчитывает явная функция по справочнику. MAX webhook и подписанные данные мини-приложения — реальные интеграции. Отметки о прохождении сообщает пользователь. Ведомственные статусы не читаем. При сетевой неопределённости возможен дубль сообщения; не обещать exactly-once. Источники: docs/architecture.md, src/main.ts, src/core/deadlines.ts, src/db/postgres-store.ts, src/bot/service.ts, src/webapp/initData.ts,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Отвечать прямо. Правила сверяла команда, независимой юридической вычитки нет. На показе учебный профиль. Реальные пользователи требуют определения оператора и оснований обработки данных, а также проверки правил. MAX ID нельзя объявлять анонимным. Пользователь управляет напоминаниями и удалением профиля. Источники: README.md, docs/legal-review.md, docs/product/pilot.md, HANDOFF.md.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спрашивают о спросе: «Мы исследовали инструкции и нашли барьер, но пока не провели интервью и не измерили эффект. Следующий шаг — наблюдаемые сессии с проверкой специалиста». Если спрашивают об аналогах: «Памятки и вузовские цифровые сервисы уже есть. Наша ставка — личный отсчёт от даты въезда, подготовка и напоминания в MAX. Сравнение удобства ещё предстоит проверить». Если спрашивают, кто платит: «Гипотеза — вуз, студенту бесплатно. Готовность платить не исследована». Источники: docs/product/problem.md, hypothesis.md, pilot.md, scaling.md. Ответы сформулированы по рекомендациям эксперта: сначала понять вопрос, затем короткий тезис, основание и честная граница ответа.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f12fcffaa4c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28dc194d043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f18e8f7e34b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064cb2f6f43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0b9f87db44f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13092444541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B4B83A-0B6D-40CD-9A15-5F70B49B1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F0D93B-884D-4785-B839-378E689BB1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3BCBD9-79A9-4B7B-BD8A-63EA8837A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FB859D-55DE-409A-8763-6DCFF4B55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97987B-7EC6-4CC9-A51D-5743F6AD3E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47AB42-DF5F-46A5-B92E-E705A4981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4C0B38-D957-4C00-9B3D-00666FEBA2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B00A00-D594-4318-995C-EA81EC04D2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5B56CF-4192-44D6-9C2D-364EE693A7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9DDB83-BE1B-4C0B-87E8-0FE0E7EAAF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7803d937d41bc" /><Relationship Type="http://schemas.openxmlformats.org/officeDocument/2006/relationships/slideLayout" Target="/ppt/slideLayouts/slideLayout1.xml" Id="R39676d74feb345d2" /><Relationship Type="http://schemas.openxmlformats.org/officeDocument/2006/relationships/slideLayout" Target="/ppt/slideLayouts/slideLayout2.xml" Id="Rea9adae4dfe84d0a" /><Relationship Type="http://schemas.openxmlformats.org/officeDocument/2006/relationships/slideLayout" Target="/ppt/slideLayouts/slideLayout3.xml" Id="R430db2f1ecff4f63" /><Relationship Type="http://schemas.openxmlformats.org/officeDocument/2006/relationships/slideLayout" Target="/ppt/slideLayouts/slideLayout4.xml" Id="R9d8d88a2022545ee" /><Relationship Type="http://schemas.openxmlformats.org/officeDocument/2006/relationships/slideLayout" Target="/ppt/slideLayouts/slideLayout5.xml" Id="Rf83efe038b7b4d97" /><Relationship Type="http://schemas.openxmlformats.org/officeDocument/2006/relationships/slideLayout" Target="/ppt/slideLayouts/slideLayout6.xml" Id="R69c08dfefc1d46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76d74feb345d2"/>
    <p:sldLayoutId xmlns:r="http://schemas.openxmlformats.org/officeDocument/2006/relationships" id="2147483650" r:id="Rea9adae4dfe84d0a"/>
    <p:sldLayoutId xmlns:r="http://schemas.openxmlformats.org/officeDocument/2006/relationships" id="2147483651" r:id="R430db2f1ecff4f63"/>
    <p:sldLayoutId xmlns:r="http://schemas.openxmlformats.org/officeDocument/2006/relationships" id="2147483652" r:id="R9d8d88a2022545ee"/>
    <p:sldLayoutId xmlns:r="http://schemas.openxmlformats.org/officeDocument/2006/relationships" id="2147483653" r:id="Rf83efe038b7b4d97"/>
    <p:sldLayoutId xmlns:r="http://schemas.openxmlformats.org/officeDocument/2006/relationships" id="2147483654" r:id="R69c08dfefc1d46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2f5e5502240cb" /><Relationship Type="http://schemas.openxmlformats.org/officeDocument/2006/relationships/hyperlink" Target="https://max.ru/t149_hakaton_max_bot" TargetMode="External" Id="R626c71b778ab4771" /><Relationship Type="http://schemas.openxmlformats.org/officeDocument/2006/relationships/hyperlink" Target="https://github.com/M1hairu/MAX_GOATed_messenger" TargetMode="External" Id="R4ed2ca9b230d4bb0" /><Relationship Type="http://schemas.openxmlformats.org/officeDocument/2006/relationships/notesSlide" Target="/ppt/notesSlides/notesSlide1.xml" Id="R24b5914548cf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322a88daf4124" /><Relationship Type="http://schemas.openxmlformats.org/officeDocument/2006/relationships/notesSlide" Target="/ppt/notesSlides/notesSlide2.xml" Id="Rb6312f8d14d0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323866bb94e33" /><Relationship Type="http://schemas.openxmlformats.org/officeDocument/2006/relationships/notesSlide" Target="/ppt/notesSlides/notesSlide3.xml" Id="R5d1147ff5061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b1d06ab54435e" /><Relationship Type="http://schemas.openxmlformats.org/officeDocument/2006/relationships/image" Target="/ppt/media/image.jpeg" Id="R76319afc1eab4509" /><Relationship Type="http://schemas.openxmlformats.org/officeDocument/2006/relationships/notesSlide" Target="/ppt/notesSlides/notesSlide4.xml" Id="R084aa27c45b043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42c29dda544a2" /><Relationship Type="http://schemas.openxmlformats.org/officeDocument/2006/relationships/image" Target="/ppt/media/image2.jpeg" Id="R2fc38e8e734e4efb" /><Relationship Type="http://schemas.openxmlformats.org/officeDocument/2006/relationships/notesSlide" Target="/ppt/notesSlides/notesSlide5.xml" Id="R039c3f4c016145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cef378aaf46d3" /><Relationship Type="http://schemas.openxmlformats.org/officeDocument/2006/relationships/notesSlide" Target="/ppt/notesSlides/notesSlide6.xml" Id="R29ee22eaeabd45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9c9fa15d94ff5" /><Relationship Type="http://schemas.openxmlformats.org/officeDocument/2006/relationships/notesSlide" Target="/ppt/notesSlides/notesSlide7.xml" Id="R55be2cdc74dd4c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f07fdb64d4d80" /><Relationship Type="http://schemas.openxmlformats.org/officeDocument/2006/relationships/notesSlide" Target="/ppt/notesSlides/notesSlide8.xml" Id="R0c072eb92ded40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2ad07c3564675" /><Relationship Type="http://schemas.openxmlformats.org/officeDocument/2006/relationships/notesSlide" Target="/ppt/notesSlides/notesSlide9.xml" Id="Radaee738174e4c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6fa62facb4570" /><Relationship Type="http://schemas.openxmlformats.org/officeDocument/2006/relationships/hyperlink" Target="https://max.ru/t149_hakaton_max_bot" TargetMode="External" Id="Rd730024063c04d1f" /><Relationship Type="http://schemas.openxmlformats.org/officeDocument/2006/relationships/notesSlide" Target="/ppt/notesSlides/notesSlide10.xml" Id="R83976de9552142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e285c1b2140aa" /><Relationship Type="http://schemas.openxmlformats.org/officeDocument/2006/relationships/notesSlide" Target="/ppt/notesSlides/notesSlide11.xml" Id="R5738e5640da34b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0af4cdb90049ba" /><Relationship Type="http://schemas.openxmlformats.org/officeDocument/2006/relationships/notesSlide" Target="/ppt/notesSlides/notesSlide12.xml" Id="R99e81a68391c43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54b5f3ba8401f" /><Relationship Type="http://schemas.openxmlformats.org/officeDocument/2006/relationships/notesSlide" Target="/ppt/notesSlides/notesSlide13.xml" Id="R9084cabc78c042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ДОСТУП ДЛЯ ПРОВЕРКИ">
            <a:extLst xmlns:a="http://schemas.openxmlformats.org/drawingml/2006/main">
              <a:ext uri="{FF2B5EF4-FFF2-40B4-BE49-F238E27FC236}">
                <a16:creationId xmlns:a16="http://schemas.microsoft.com/office/drawing/2014/main" id="{800E56C0-593E-4EA5-9A97-A80F4EB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ДОСТУП ДЛЯ ПРОВЕРКИ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DC10B3B7-C79E-4317-BBAD-7039B4FE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Служебный слайд. Устный рассказ начинается">
            <a:extLst xmlns:a="http://schemas.openxmlformats.org/drawingml/2006/main">
              <a:ext uri="{FF2B5EF4-FFF2-40B4-BE49-F238E27FC236}">
                <a16:creationId xmlns:a16="http://schemas.microsoft.com/office/drawing/2014/main" id="{C300DED6-AF82-4399-9CB7-FCAA4111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Служебный слайд. Устный рассказ начинается со следующего слайда</a:t>
            </a:r>
          </a:p>
        </p:txBody>
      </p:sp>
      <p:sp>
        <p:nvSpPr>
          <p:cNvPr id="4" name="Проверка и доступ">
            <a:extLst xmlns:a="http://schemas.openxmlformats.org/drawingml/2006/main">
              <a:ext uri="{FF2B5EF4-FFF2-40B4-BE49-F238E27FC236}">
                <a16:creationId xmlns:a16="http://schemas.microsoft.com/office/drawing/2014/main" id="{40543531-49E6-41C4-8043-F1A16B3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и доступ</a:t>
            </a:r>
          </a:p>
        </p:txBody>
      </p:sp>
      <p:sp>
        <p:nvSpPr>
          <p:cNvPr id="5" name="Демонстрационный режим, учебный профиль">
            <a:extLst xmlns:a="http://schemas.openxmlformats.org/drawingml/2006/main">
              <a:ext uri="{FF2B5EF4-FFF2-40B4-BE49-F238E27FC236}">
                <a16:creationId xmlns:a16="http://schemas.microsoft.com/office/drawing/2014/main" id="{F9FFE987-0BD4-4373-98B8-A371877D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Демонстрационный режим, учебный профиль</a:t>
            </a:r>
          </a:p>
        </p:txBody>
      </p:sp>
      <p:sp>
        <p:nvSpPr>
          <p:cNvPr id="6" name="Открыть бота в MAX">
            <a:extLst xmlns:a="http://schemas.openxmlformats.org/drawingml/2006/main">
              <a:ext uri="{FF2B5EF4-FFF2-40B4-BE49-F238E27FC236}">
                <a16:creationId xmlns:a16="http://schemas.microsoft.com/office/drawing/2014/main" id="{96B00B5D-272E-4E8E-9077-DB69E768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626c71b778ab4771"/>
              </a:rPr>
              <a:t>Открыть бота в MAX</a:t>
            </a:r>
          </a:p>
        </p:txBody>
      </p:sp>
      <p:sp>
        <p:nvSpPr>
          <p:cNvPr id="7" name="Репозиторий и сценарий проверки">
            <a:extLst xmlns:a="http://schemas.openxmlformats.org/drawingml/2006/main">
              <a:ext uri="{FF2B5EF4-FFF2-40B4-BE49-F238E27FC236}">
                <a16:creationId xmlns:a16="http://schemas.microsoft.com/office/drawing/2014/main" id="{E51D8E1D-541C-4924-ADBF-4EA756AB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FCBE0"/>
                </a:solidFill>
                <a:latin typeface="Arial"/>
                <a:ea typeface="Arial"/>
                <a:cs typeface="Arial"/>
                <a:hlinkClick xmlns:r="http://schemas.openxmlformats.org/officeDocument/2006/relationships" r:id="R4ed2ca9b230d4bb0"/>
              </a:rPr>
              <a:t>Репозиторий и сценарий проверки</a:t>
            </a:r>
          </a:p>
        </p:txBody>
      </p:sp>
      <p:sp>
        <p:nvSpPr>
          <p:cNvPr id="8" name="Код на ВМ по протоколу 23.10: 1761443">
            <a:extLst xmlns:a="http://schemas.openxmlformats.org/drawingml/2006/main">
              <a:ext uri="{FF2B5EF4-FFF2-40B4-BE49-F238E27FC236}">
                <a16:creationId xmlns:a16="http://schemas.microsoft.com/office/drawing/2014/main" id="{E766BBDB-7119-4CE0-A4A3-E96B52D0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Код на ВМ по протоколу 23.10: 1761443</a:t>
            </a:r>
          </a:p>
        </p:txBody>
      </p:sp>
      <p:sp>
        <p:nvSpPr>
          <p:cNvPr id="9" name="Актуальный ручной прогон в MAX ещё нужен">
            <a:extLst xmlns:a="http://schemas.openxmlformats.org/drawingml/2006/main">
              <a:ext uri="{FF2B5EF4-FFF2-40B4-BE49-F238E27FC236}">
                <a16:creationId xmlns:a16="http://schemas.microsoft.com/office/drawing/2014/main" id="{85859832-56EF-4F8A-8EF2-DBEB0749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Актуальный ручной прогон в MAX ещё нужен</a:t>
            </a:r>
          </a:p>
        </p:txBody>
      </p:sp>
    </p:spTree>
    <p:extLst>
      <p:ext uri="{BB962C8B-B14F-4D97-AF65-F5344CB8AC3E}">
        <p14:creationId xmlns:p14="http://schemas.microsoft.com/office/powerpoint/2010/main" val="475909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МОЩНИК ИНОСТРАННОГО ПЕРВОКУРСНИКА В MAX">
            <a:extLst xmlns:a="http://schemas.openxmlformats.org/drawingml/2006/main">
              <a:ext uri="{FF2B5EF4-FFF2-40B4-BE49-F238E27FC236}">
                <a16:creationId xmlns:a16="http://schemas.microsoft.com/office/drawing/2014/main" id="{05432EAE-61B3-4C63-8175-D597D25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ПОМОЩНИК ИНОСТРАННОГО ПЕРВОКУРСНИКА В MAX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EDD4F4C0-A574-419C-B33E-5F2F509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9E965BB4-9872-4111-A0FD-568E0591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Первые">
            <a:extLst xmlns:a="http://schemas.openxmlformats.org/drawingml/2006/main">
              <a:ext uri="{FF2B5EF4-FFF2-40B4-BE49-F238E27FC236}">
                <a16:creationId xmlns:a16="http://schemas.microsoft.com/office/drawing/2014/main" id="{0A81EFF9-001E-4E68-BD1B-739412E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Первые</a:t>
            </a:r>
          </a:p>
        </p:txBody>
      </p:sp>
      <p:sp>
        <p:nvSpPr>
          <p:cNvPr id="5" name="90 дней">
            <a:extLst xmlns:a="http://schemas.openxmlformats.org/drawingml/2006/main">
              <a:ext uri="{FF2B5EF4-FFF2-40B4-BE49-F238E27FC236}">
                <a16:creationId xmlns:a16="http://schemas.microsoft.com/office/drawing/2014/main" id="{DB0B0458-436A-4D03-AA7C-17022625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0650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90 дней</a:t>
            </a:r>
          </a:p>
        </p:txBody>
      </p:sp>
      <p:sp>
        <p:nvSpPr>
          <p:cNvPr id="6" name="Личный план обязательных процедур&#10;от даты ">
            <a:extLst xmlns:a="http://schemas.openxmlformats.org/drawingml/2006/main">
              <a:ext uri="{FF2B5EF4-FFF2-40B4-BE49-F238E27FC236}">
                <a16:creationId xmlns:a16="http://schemas.microsoft.com/office/drawing/2014/main" id="{8369E3BD-694E-4C1A-B5B2-A157A7F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990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Личный план обязательных процедур</a:t>
            </a:r>
          </a:p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даты въезда</a:t>
            </a:r>
          </a:p>
        </p:txBody>
      </p:sp>
      <p:sp>
        <p:nvSpPr>
          <p:cNvPr id="7" name="Иван Резников, Иван Пушкин&#10;Александр Чичер">
            <a:extLst xmlns:a="http://schemas.openxmlformats.org/drawingml/2006/main">
              <a:ext uri="{FF2B5EF4-FFF2-40B4-BE49-F238E27FC236}">
                <a16:creationId xmlns:a16="http://schemas.microsoft.com/office/drawing/2014/main" id="{26BBB494-7B3B-411C-9BF6-3482190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Иван Резников, Иван Пушкин</a:t>
            </a:r>
          </a:p>
          <a:p xmlns:a="http://schemas.openxmlformats.org/drawingml/2006/main">
            <a:pPr>
              <a:defRPr sz="16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Александр Чичерин, Михаил Анцев</a:t>
            </a:r>
          </a:p>
        </p:txBody>
      </p:sp>
    </p:spTree>
    <p:extLst>
      <p:ext uri="{BB962C8B-B14F-4D97-AF65-F5344CB8AC3E}">
        <p14:creationId xmlns:p14="http://schemas.microsoft.com/office/powerpoint/2010/main" val="1926735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ЕРВЫЕ 90 ДНЕЙ">
            <a:extLst xmlns:a="http://schemas.openxmlformats.org/drawingml/2006/main">
              <a:ext uri="{FF2B5EF4-FFF2-40B4-BE49-F238E27FC236}">
                <a16:creationId xmlns:a16="http://schemas.microsoft.com/office/drawing/2014/main" id="{549B3F93-B2E5-410E-AFC3-9C26A33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ПЕРВЫЕ 90 ДНЕЙ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5CE9156-08E6-4AE4-8EC7-9952863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E672B730-AC0B-4310-8E9C-300949B8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К какому числу&#10;нужно успеть лично мне?">
            <a:extLst xmlns:a="http://schemas.openxmlformats.org/drawingml/2006/main">
              <a:ext uri="{FF2B5EF4-FFF2-40B4-BE49-F238E27FC236}">
                <a16:creationId xmlns:a16="http://schemas.microsoft.com/office/drawing/2014/main" id="{022CF8F3-A19B-4380-B739-1BE1C6EA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33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К какому числу</a:t>
            </a:r>
          </a:p>
          <a:p xmlns:a="http://schemas.openxmlformats.org/drawingml/2006/main">
            <a:pPr>
              <a:defRPr sz="495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нужно успеть лично мне?</a:t>
            </a:r>
          </a:p>
        </p:txBody>
      </p:sp>
      <p:sp>
        <p:nvSpPr>
          <p:cNvPr id="5" name="Студенту нужно сопоставить инструкции,&#10;отс">
            <a:extLst xmlns:a="http://schemas.openxmlformats.org/drawingml/2006/main">
              <a:ext uri="{FF2B5EF4-FFF2-40B4-BE49-F238E27FC236}">
                <a16:creationId xmlns:a16="http://schemas.microsoft.com/office/drawing/2014/main" id="{744CB089-9AF0-4AE2-B19A-611EC72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Студенту нужно сопоставить инструкции,</a:t>
            </a:r>
          </a:p>
          <a:p xmlns:a="http://schemas.openxmlformats.org/drawingml/2006/main">
            <a: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отсчитать сроки и подготовить документы</a:t>
            </a:r>
          </a:p>
        </p:txBody>
      </p:sp>
    </p:spTree>
    <p:extLst>
      <p:ext uri="{BB962C8B-B14F-4D97-AF65-F5344CB8AC3E}">
        <p14:creationId xmlns:p14="http://schemas.microsoft.com/office/powerpoint/2010/main" val="1847268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ЕРВЫЕ 90 ДНЕЙ">
            <a:extLst xmlns:a="http://schemas.openxmlformats.org/drawingml/2006/main">
              <a:ext uri="{FF2B5EF4-FFF2-40B4-BE49-F238E27FC236}">
                <a16:creationId xmlns:a16="http://schemas.microsoft.com/office/drawing/2014/main" id="{4759BDDD-2DCD-4FFF-A237-DD0831C8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ПЕРВЫЕ 90 ДНЕЙ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D0F86787-7FD6-41EE-83F3-C31C503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Скриншот MAX от 25.09.2026, учебный профил">
            <a:extLst xmlns:a="http://schemas.openxmlformats.org/drawingml/2006/main">
              <a:ext uri="{FF2B5EF4-FFF2-40B4-BE49-F238E27FC236}">
                <a16:creationId xmlns:a16="http://schemas.microsoft.com/office/drawing/2014/main" id="{6B825AD4-14FB-4E44-8F44-5ED8AAC9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Скриншот MAX от 25.09.2026, учебный профиль. Интерфейс текущей версии может отличаться</a:t>
            </a:r>
          </a:p>
        </p:txBody>
      </p:sp>
      <p:sp>
        <p:nvSpPr>
          <p:cNvPr id="4" name="Своя дата и следующий шаг&#10;в одном плане">
            <a:extLst xmlns:a="http://schemas.openxmlformats.org/drawingml/2006/main">
              <a:ext uri="{FF2B5EF4-FFF2-40B4-BE49-F238E27FC236}">
                <a16:creationId xmlns:a16="http://schemas.microsoft.com/office/drawing/2014/main" id="{36E948FC-D66A-47B1-BF73-613A6DF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33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Своя дата и следующий шаг</a:t>
            </a:r>
          </a:p>
          <a:p xmlns:a="http://schemas.openxmlformats.org/drawingml/2006/main">
            <a:pPr>
              <a:defRPr sz="3900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в одном плане</a:t>
            </a:r>
          </a:p>
        </p:txBody>
      </p:sp>
      <p:sp>
        <p:nvSpPr>
          <p:cNvPr id="5" name="Короткая анкета в чате&#10;Карточки с документ">
            <a:extLst xmlns:a="http://schemas.openxmlformats.org/drawingml/2006/main">
              <a:ext uri="{FF2B5EF4-FFF2-40B4-BE49-F238E27FC236}">
                <a16:creationId xmlns:a16="http://schemas.microsoft.com/office/drawing/2014/main" id="{1F03AA32-9AF6-4EFE-B8B0-3133997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638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Короткая анкета в чате</a:t>
            </a:r>
          </a:p>
          <a:p xmlns:a="http://schemas.openxmlformats.org/drawingml/2006/main">
            <a: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Карточки с документами</a:t>
            </a:r>
          </a:p>
          <a:p xmlns:a="http://schemas.openxmlformats.org/drawingml/2006/main">
            <a:pPr>
              <a:defRPr sz="24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Напоминания перед сроком</a:t>
            </a:r>
          </a:p>
        </p:txBody>
      </p:sp>
      <p:sp>
        <p:nvSpPr>
          <p:cNvPr id="6" name="Чат и мини-приложение используют один проф">
            <a:extLst xmlns:a="http://schemas.openxmlformats.org/drawingml/2006/main">
              <a:ext uri="{FF2B5EF4-FFF2-40B4-BE49-F238E27FC236}">
                <a16:creationId xmlns:a16="http://schemas.microsoft.com/office/drawing/2014/main" id="{F741DA98-8DF3-4D95-BE57-C5384E8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Чат и мини-приложение используют один профиль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D38F-80BD-483B-82C7-E3C0B1041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19afc1eab4509"/>
          <a:stretch xmlns:a="http://schemas.openxmlformats.org/drawingml/2006/main"/>
        </p:blipFill>
        <p:spPr>
          <a:xfrm xmlns:a="http://schemas.openxmlformats.org/drawingml/2006/main">
            <a:off x="8309919" y="952500"/>
            <a:ext cx="2525412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38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КАЗ В MAX">
            <a:extLst xmlns:a="http://schemas.openxmlformats.org/drawingml/2006/main">
              <a:ext uri="{FF2B5EF4-FFF2-40B4-BE49-F238E27FC236}">
                <a16:creationId xmlns:a16="http://schemas.microsoft.com/office/drawing/2014/main" id="{5FB5621C-6B68-4BC6-BA7B-FF1B2F79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ПОКАЗ В MAX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5CF4F4FD-40B3-4A45-BFA3-CEC29479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Запасной экран: MAX от 27.09.2026, учебный">
            <a:extLst xmlns:a="http://schemas.openxmlformats.org/drawingml/2006/main">
              <a:ext uri="{FF2B5EF4-FFF2-40B4-BE49-F238E27FC236}">
                <a16:creationId xmlns:a16="http://schemas.microsoft.com/office/drawing/2014/main" id="{16CD7002-8CB1-4BED-95EC-74B0A3CC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Запасной экран: MAX от 27.09.2026, учебный профиль. Основной показ — текущая версия</a:t>
            </a:r>
          </a:p>
        </p:txBody>
      </p:sp>
      <p:sp>
        <p:nvSpPr>
          <p:cNvPr id="4" name="Одна процедура&#10;от плана до напоминания">
            <a:extLst xmlns:a="http://schemas.openxmlformats.org/drawingml/2006/main">
              <a:ext uri="{FF2B5EF4-FFF2-40B4-BE49-F238E27FC236}">
                <a16:creationId xmlns:a16="http://schemas.microsoft.com/office/drawing/2014/main" id="{587DC993-862E-419C-878C-CBF1F210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33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Одна процедура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плана до напоминания</a:t>
            </a:r>
          </a:p>
        </p:txBody>
      </p:sp>
      <p:sp>
        <p:nvSpPr>
          <p:cNvPr id="5" name="Открыть личный срок&#10;Проверить подготовку&#10;В">
            <a:extLst xmlns:a="http://schemas.openxmlformats.org/drawingml/2006/main">
              <a:ext uri="{FF2B5EF4-FFF2-40B4-BE49-F238E27FC236}">
                <a16:creationId xmlns:a16="http://schemas.microsoft.com/office/drawing/2014/main" id="{F64256A6-FF0C-4D85-AA76-400A237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638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Открыть личный срок</a:t>
            </a:r>
          </a:p>
          <a:p xmlns:a="http://schemas.openxmlformats.org/drawingml/2006/main">
            <a: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Проверить подготовку</a:t>
            </a:r>
          </a:p>
          <a:p xmlns:a="http://schemas.openxmlformats.org/drawingml/2006/main">
            <a:pPr>
              <a:defRPr sz="24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Включить напоминание</a:t>
            </a:r>
          </a:p>
        </p:txBody>
      </p:sp>
      <p:sp>
        <p:nvSpPr>
          <p:cNvPr id="6" name="Демонстрация на учебном профиле">
            <a:extLst xmlns:a="http://schemas.openxmlformats.org/drawingml/2006/main">
              <a:ext uri="{FF2B5EF4-FFF2-40B4-BE49-F238E27FC236}">
                <a16:creationId xmlns:a16="http://schemas.microsoft.com/office/drawing/2014/main" id="{BA79053D-5E7F-4599-AAA1-3CDE259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Демонстрация на учебном профиле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ACED9-FE18-4BA2-AE27-27DEEA512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38e8e734e4efb"/>
          <a:stretch xmlns:a="http://schemas.openxmlformats.org/drawingml/2006/main"/>
        </p:blipFill>
        <p:spPr>
          <a:xfrm xmlns:a="http://schemas.openxmlformats.org/drawingml/2006/main">
            <a:off x="8309919" y="952500"/>
            <a:ext cx="2525412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3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ЕРВЫЕ 90 ДНЕЙ">
            <a:extLst xmlns:a="http://schemas.openxmlformats.org/drawingml/2006/main">
              <a:ext uri="{FF2B5EF4-FFF2-40B4-BE49-F238E27FC236}">
                <a16:creationId xmlns:a16="http://schemas.microsoft.com/office/drawing/2014/main" id="{A5389C80-12B6-4BE8-9BA8-069BB4F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ПЕРВЫЕ 90 ДНЕЙ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C81716C9-1B2E-41D6-B1F5-BF9830C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Реализовано в коде. Свежий ручной показ в ">
            <a:extLst xmlns:a="http://schemas.openxmlformats.org/drawingml/2006/main">
              <a:ext uri="{FF2B5EF4-FFF2-40B4-BE49-F238E27FC236}">
                <a16:creationId xmlns:a16="http://schemas.microsoft.com/office/drawing/2014/main" id="{12C82D39-33A6-4DA8-A7CE-6178B44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Реализовано в коде. Свежий ручной показ в MAX нужно подтвердить перед защитой</a:t>
            </a:r>
          </a:p>
        </p:txBody>
      </p:sp>
      <p:sp>
        <p:nvSpPr>
          <p:cNvPr id="4" name="Развитие после онлайн-этапа">
            <a:extLst xmlns:a="http://schemas.openxmlformats.org/drawingml/2006/main">
              <a:ext uri="{FF2B5EF4-FFF2-40B4-BE49-F238E27FC236}">
                <a16:creationId xmlns:a16="http://schemas.microsoft.com/office/drawing/2014/main" id="{FCB01A51-F18B-4A81-807C-E940D6D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Развитие после онлайн-этапа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906925E-B887-4FA8-ABCF-431FFC7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Подготовка до въезда">
            <a:extLst xmlns:a="http://schemas.openxmlformats.org/drawingml/2006/main">
              <a:ext uri="{FF2B5EF4-FFF2-40B4-BE49-F238E27FC236}">
                <a16:creationId xmlns:a16="http://schemas.microsoft.com/office/drawing/2014/main" id="{D8475A17-2E82-4030-82B3-54C0FEA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7650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Подготовка до въезда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415AE20-5EDB-455C-8BE9-91F70DA9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Профили КФУ, ИТМО и СПбГЭУ">
            <a:extLst xmlns:a="http://schemas.openxmlformats.org/drawingml/2006/main">
              <a:ext uri="{FF2B5EF4-FFF2-40B4-BE49-F238E27FC236}">
                <a16:creationId xmlns:a16="http://schemas.microsoft.com/office/drawing/2014/main" id="{A450A564-C8D8-46AA-A27F-E074861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4330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Профили КФУ, ИТМО и СПбГЭУ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676C035A-5341-4BAF-86BF-25AC4F0C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лан в PDF для передачи куратору">
            <a:extLst xmlns:a="http://schemas.openxmlformats.org/drawingml/2006/main">
              <a:ext uri="{FF2B5EF4-FFF2-40B4-BE49-F238E27FC236}">
                <a16:creationId xmlns:a16="http://schemas.microsoft.com/office/drawing/2014/main" id="{AEF6E7F7-C234-4F72-8A19-F930B790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010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План в PDF для передачи куратору</a:t>
            </a:r>
          </a:p>
        </p:txBody>
      </p:sp>
    </p:spTree>
    <p:extLst>
      <p:ext uri="{BB962C8B-B14F-4D97-AF65-F5344CB8AC3E}">
        <p14:creationId xmlns:p14="http://schemas.microsoft.com/office/powerpoint/2010/main" val="402390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ЕРВЫЕ 90 ДНЕЙ">
            <a:extLst xmlns:a="http://schemas.openxmlformats.org/drawingml/2006/main">
              <a:ext uri="{FF2B5EF4-FFF2-40B4-BE49-F238E27FC236}">
                <a16:creationId xmlns:a16="http://schemas.microsoft.com/office/drawing/2014/main" id="{474701FD-A36A-4350-A266-BAC667A2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ПЕРВЫЕ 90 ДНЕЙ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9CD06CB-1599-4226-9984-5E5BABA0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67F36E82-7084-4798-AB46-E5F5336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Что меняется в подготовке">
            <a:extLst xmlns:a="http://schemas.openxmlformats.org/drawingml/2006/main">
              <a:ext uri="{FF2B5EF4-FFF2-40B4-BE49-F238E27FC236}">
                <a16:creationId xmlns:a16="http://schemas.microsoft.com/office/drawing/2014/main" id="{C9EBC27B-B1B5-40B0-89B9-AC284886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Что меняется в подготовке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31B72-57AA-42A2-BE84-2FE746FBDDFE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85813">
                <a:tc>
                  <a:txBody>
                    <a:bodyPr lIns="152400" tIns="152400" rIns="152400" bIns="152400"/>
                    <a:lstStyle/>
                    <a:p>
                      <a:r>
                        <a:rPr sz="2100" b="1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Памятка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2EE"/>
                      </a:solidFill>
                      <a:prstDash val="solid"/>
                    </a:lnL>
                    <a:lnR w="9525">
                      <a:solidFill>
                        <a:srgbClr val="DAE2EE"/>
                      </a:solidFill>
                      <a:prstDash val="solid"/>
                    </a:lnR>
                    <a:lnT w="9525">
                      <a:solidFill>
                        <a:srgbClr val="DAE2EE"/>
                      </a:solidFill>
                      <a:prstDash val="solid"/>
                    </a:lnT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Личный план в MAX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2EE"/>
                      </a:solidFill>
                      <a:prstDash val="solid"/>
                    </a:lnR>
                    <a:lnT w="9525">
                      <a:solidFill>
                        <a:srgbClr val="DAE2EE"/>
                      </a:solidFill>
                      <a:prstDash val="solid"/>
                    </a:lnT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2458E6"/>
                    </a:solidFill>
                  </a:tcPr>
                </a:tc>
              </a:tr>
              <a:tr h="785813"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Самому отсчитать срок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2EE"/>
                      </a:solidFill>
                      <a:prstDash val="solid"/>
                    </a:lnL>
                    <a:lnR w="9525">
                      <a:solidFill>
                        <a:srgbClr val="DAE2EE"/>
                      </a:solidFill>
                      <a:prstDash val="solid"/>
                    </a:lnR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Своя дата по введённым данным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2EE"/>
                      </a:solidFill>
                      <a:prstDash val="solid"/>
                    </a:lnR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85813"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Собирать требования по разделам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2EE"/>
                      </a:solidFill>
                      <a:prstDash val="solid"/>
                    </a:lnL>
                    <a:lnR w="9525">
                      <a:solidFill>
                        <a:srgbClr val="DAE2EE"/>
                      </a:solidFill>
                      <a:prstDash val="solid"/>
                    </a:lnR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в карточке процедуры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2EE"/>
                      </a:solidFill>
                      <a:prstDash val="solid"/>
                    </a:lnR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785813"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Помнить о сроке самостоятельно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2EE"/>
                      </a:solidFill>
                      <a:prstDash val="solid"/>
                    </a:lnL>
                    <a:lnR w="9525">
                      <a:solidFill>
                        <a:srgbClr val="DAE2EE"/>
                      </a:solidFill>
                      <a:prstDash val="solid"/>
                    </a:lnR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22039"/>
                          </a:solidFill>
                          <a:latin typeface="Arial"/>
                          <a:ea typeface="Arial"/>
                          <a:cs typeface="Arial"/>
                        </a:rPr>
                        <a:t>Получать напоминания в чате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2EE"/>
                      </a:solidFill>
                      <a:prstDash val="solid"/>
                    </a:lnR>
                    <a:lnB w="9525">
                      <a:solidFill>
                        <a:srgbClr val="DAE2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Снижение ошибок и просрочек предстоит изме">
            <a:extLst xmlns:a="http://schemas.openxmlformats.org/drawingml/2006/main">
              <a:ext uri="{FF2B5EF4-FFF2-40B4-BE49-F238E27FC236}">
                <a16:creationId xmlns:a16="http://schemas.microsoft.com/office/drawing/2014/main" id="{F5928FD9-AEF9-4E65-9DDB-977EC76A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Снижение ошибок и просрочек предстоит измерить на пилоте</a:t>
            </a:r>
          </a:p>
        </p:txBody>
      </p:sp>
    </p:spTree>
    <p:extLst>
      <p:ext uri="{BB962C8B-B14F-4D97-AF65-F5344CB8AC3E}">
        <p14:creationId xmlns:p14="http://schemas.microsoft.com/office/powerpoint/2010/main" val="1739398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ЕРВЫЕ 90 ДНЕЙ">
            <a:extLst xmlns:a="http://schemas.openxmlformats.org/drawingml/2006/main">
              <a:ext uri="{FF2B5EF4-FFF2-40B4-BE49-F238E27FC236}">
                <a16:creationId xmlns:a16="http://schemas.microsoft.com/office/drawing/2014/main" id="{88BBA1F6-B49E-4A2E-A533-80C656F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ПЕРВЫЕ 90 ДНЕЙ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AE82813B-6947-4497-9F0A-C61201E8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CE09F597-B364-4F4E-B332-5AB189B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Первый пилот с одним вузом">
            <a:extLst xmlns:a="http://schemas.openxmlformats.org/drawingml/2006/main">
              <a:ext uri="{FF2B5EF4-FFF2-40B4-BE49-F238E27FC236}">
                <a16:creationId xmlns:a16="http://schemas.microsoft.com/office/drawing/2014/main" id="{38754BA4-4A4A-4387-87BB-BE1CF58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Первый пилот с одним вузом</a:t>
            </a:r>
          </a:p>
        </p:txBody>
      </p:sp>
      <p:sp>
        <p:nvSpPr>
          <p:cNvPr id="5" name="10–15">
            <a:extLst xmlns:a="http://schemas.openxmlformats.org/drawingml/2006/main">
              <a:ext uri="{FF2B5EF4-FFF2-40B4-BE49-F238E27FC236}">
                <a16:creationId xmlns:a16="http://schemas.microsoft.com/office/drawing/2014/main" id="{3DB68F32-290F-4FFA-872E-6017F0F7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300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10–15</a:t>
            </a:r>
          </a:p>
        </p:txBody>
      </p:sp>
      <p:sp>
        <p:nvSpPr>
          <p:cNvPr id="6" name="наблюдаемых сессий&#10;Предлагаемый первый эта">
            <a:extLst xmlns:a="http://schemas.openxmlformats.org/drawingml/2006/main">
              <a:ext uri="{FF2B5EF4-FFF2-40B4-BE49-F238E27FC236}">
                <a16:creationId xmlns:a16="http://schemas.microsoft.com/office/drawing/2014/main" id="{E77EE2CD-F070-472E-8466-D5FDE21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наблюдаемых сессий</a:t>
            </a:r>
          </a:p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Предлагаемый первый этап</a:t>
            </a:r>
          </a:p>
        </p:txBody>
      </p:sp>
      <p:sp>
        <p:nvSpPr>
          <p:cNvPr id="7" name="Сотрудник вуза проверяет правила&#10;Куратор п">
            <a:extLst xmlns:a="http://schemas.openxmlformats.org/drawingml/2006/main">
              <a:ext uri="{FF2B5EF4-FFF2-40B4-BE49-F238E27FC236}">
                <a16:creationId xmlns:a16="http://schemas.microsoft.com/office/drawing/2014/main" id="{B892C76C-6CD0-48E3-A2C6-9831AFA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Сотрудник вуза проверяет правила</a:t>
            </a:r>
          </a:p>
          <a:p xmlns:a="http://schemas.openxmlformats.org/drawingml/2006/main">
            <a: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Куратор помогает найти участников</a:t>
            </a:r>
          </a:p>
        </p:txBody>
      </p:sp>
      <p:sp>
        <p:nvSpPr>
          <p:cNvPr id="8" name="Измеряем правильность плана,&#10;время и самос">
            <a:extLst xmlns:a="http://schemas.openxmlformats.org/drawingml/2006/main">
              <a:ext uri="{FF2B5EF4-FFF2-40B4-BE49-F238E27FC236}">
                <a16:creationId xmlns:a16="http://schemas.microsoft.com/office/drawing/2014/main" id="{8C5701FC-A01E-4E3A-95FC-4D7B837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Измеряем правильность плана,</a:t>
            </a:r>
          </a:p>
          <a:p xmlns:a="http://schemas.openxmlformats.org/drawingml/2006/main">
            <a:pPr>
              <a:defRPr sz="2325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время и самостоятельность</a:t>
            </a:r>
          </a:p>
        </p:txBody>
      </p:sp>
      <p:sp>
        <p:nvSpPr>
          <p:cNvPr id="9" name="Партнёра и результатов пока нет">
            <a:extLst xmlns:a="http://schemas.openxmlformats.org/drawingml/2006/main">
              <a:ext uri="{FF2B5EF4-FFF2-40B4-BE49-F238E27FC236}">
                <a16:creationId xmlns:a16="http://schemas.microsoft.com/office/drawing/2014/main" id="{4EE6A86E-45D9-49DD-8584-C11F6DE3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3637A"/>
                </a:solidFill>
                <a:latin typeface="Arial"/>
                <a:ea typeface="Arial"/>
                <a:cs typeface="Arial"/>
              </a:rPr>
              <a:t>Партнёра и результатов пока нет</a:t>
            </a:r>
          </a:p>
        </p:txBody>
      </p:sp>
    </p:spTree>
    <p:extLst>
      <p:ext uri="{BB962C8B-B14F-4D97-AF65-F5344CB8AC3E}">
        <p14:creationId xmlns:p14="http://schemas.microsoft.com/office/powerpoint/2010/main" val="19827643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ЕРВЫЕ 90 ДНЕЙ">
            <a:extLst xmlns:a="http://schemas.openxmlformats.org/drawingml/2006/main">
              <a:ext uri="{FF2B5EF4-FFF2-40B4-BE49-F238E27FC236}">
                <a16:creationId xmlns:a16="http://schemas.microsoft.com/office/drawing/2014/main" id="{1732C633-1A98-4BF4-AF1C-C76DC169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ПЕРВЫЕ 90 ДНЕЙ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A4480205-C533-4C5D-995D-8D45DF5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Профили по открытым источникам. Перечислен">
            <a:extLst xmlns:a="http://schemas.openxmlformats.org/drawingml/2006/main">
              <a:ext uri="{FF2B5EF4-FFF2-40B4-BE49-F238E27FC236}">
                <a16:creationId xmlns:a16="http://schemas.microsoft.com/office/drawing/2014/main" id="{0A04FA4F-5785-41C6-9694-F5F735B8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Профили по открытым источникам. Перечисленные вузы не заявлены партнёрами</a:t>
            </a:r>
          </a:p>
        </p:txBody>
      </p:sp>
      <p:sp>
        <p:nvSpPr>
          <p:cNvPr id="4" name="Другой вуз подключается данными">
            <a:extLst xmlns:a="http://schemas.openxmlformats.org/drawingml/2006/main">
              <a:ext uri="{FF2B5EF4-FFF2-40B4-BE49-F238E27FC236}">
                <a16:creationId xmlns:a16="http://schemas.microsoft.com/office/drawing/2014/main" id="{4E1BD95D-8A69-4BD1-AE14-230928EC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Другой вуз подключается данными</a:t>
            </a:r>
          </a:p>
        </p:txBody>
      </p:sp>
      <p:sp>
        <p:nvSpPr>
          <p:cNvPr id="5" name="КФУ&#10;ИТМО&#10;СПбГЭУ">
            <a:extLst xmlns:a="http://schemas.openxmlformats.org/drawingml/2006/main">
              <a:ext uri="{FF2B5EF4-FFF2-40B4-BE49-F238E27FC236}">
                <a16:creationId xmlns:a16="http://schemas.microsoft.com/office/drawing/2014/main" id="{61B169AE-0D5C-4A90-8BAB-BC454AA4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476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КФУ</a:t>
            </a:r>
          </a:p>
          <a:p xmlns:a="http://schemas.openxmlformats.org/drawingml/2006/main">
            <a: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ИТМО</a:t>
            </a:r>
          </a:p>
          <a:p xmlns:a="http://schemas.openxmlformats.org/drawingml/2006/main">
            <a:pPr>
              <a:defRPr sz="4650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СПбГЭУ</a:t>
            </a:r>
          </a:p>
        </p:txBody>
      </p:sp>
      <p:sp>
        <p:nvSpPr>
          <p:cNvPr id="6" name="Профили в данных продукта">
            <a:extLst xmlns:a="http://schemas.openxmlformats.org/drawingml/2006/main">
              <a:ext uri="{FF2B5EF4-FFF2-40B4-BE49-F238E27FC236}">
                <a16:creationId xmlns:a16="http://schemas.microsoft.com/office/drawing/2014/main" id="{1510B793-37F5-4E37-BCB5-9D9FA2F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Профили в данных продукта</a:t>
            </a:r>
          </a:p>
        </p:txBody>
      </p:sp>
      <p:sp>
        <p:nvSpPr>
          <p:cNvPr id="7" name="Общее ядро расчёта и напоминаний&#10;&#10;Для ново">
            <a:extLst xmlns:a="http://schemas.openxmlformats.org/drawingml/2006/main">
              <a:ext uri="{FF2B5EF4-FFF2-40B4-BE49-F238E27FC236}">
                <a16:creationId xmlns:a16="http://schemas.microsoft.com/office/drawing/2014/main" id="{0117E7DB-360E-437D-A023-0DFD194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5238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Общее ядро расчёта и напоминаний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Для нового вуза проверяем</a:t>
            </a:r>
          </a:p>
          <a:p xmlns:a="http://schemas.openxmlformats.org/drawingml/2006/main">
            <a:pPr>
              <a:defRPr sz="2250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инструкции, контакты и места</a:t>
            </a:r>
          </a:p>
        </p:txBody>
      </p:sp>
    </p:spTree>
    <p:extLst>
      <p:ext uri="{BB962C8B-B14F-4D97-AF65-F5344CB8AC3E}">
        <p14:creationId xmlns:p14="http://schemas.microsoft.com/office/powerpoint/2010/main" val="860333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ЕРВЫЕ 90 ДНЕЙ В MAX">
            <a:extLst xmlns:a="http://schemas.openxmlformats.org/drawingml/2006/main">
              <a:ext uri="{FF2B5EF4-FFF2-40B4-BE49-F238E27FC236}">
                <a16:creationId xmlns:a16="http://schemas.microsoft.com/office/drawing/2014/main" id="{245AC2A5-FC29-45C7-8951-391EC92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CE5D1"/>
                </a:solidFill>
                <a:latin typeface="Arial"/>
                <a:ea typeface="Arial"/>
                <a:cs typeface="Arial"/>
              </a:rPr>
              <a:t>ПЕРВЫЕ 90 ДНЕЙ В MAX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196ACEED-5548-4A13-BA5F-5F5A969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56867ADF-C2DE-4C88-ACD7-7183EDB1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Личный план&#10;первых 90 дней в России">
            <a:extLst xmlns:a="http://schemas.openxmlformats.org/drawingml/2006/main">
              <a:ext uri="{FF2B5EF4-FFF2-40B4-BE49-F238E27FC236}">
                <a16:creationId xmlns:a16="http://schemas.microsoft.com/office/drawing/2014/main" id="{021930A1-1A77-4937-8F7B-80E40CCA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Личный план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первых 90 дней в России</a:t>
            </a:r>
          </a:p>
        </p:txBody>
      </p:sp>
      <p:sp>
        <p:nvSpPr>
          <p:cNvPr id="5" name="Ищем вуз для проверки правил&#10;и пилота с пе">
            <a:extLst xmlns:a="http://schemas.openxmlformats.org/drawingml/2006/main">
              <a:ext uri="{FF2B5EF4-FFF2-40B4-BE49-F238E27FC236}">
                <a16:creationId xmlns:a16="http://schemas.microsoft.com/office/drawing/2014/main" id="{9A05BEB0-4B22-4695-9ECF-57F610AC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38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Ищем вуз для проверки правил</a:t>
            </a:r>
          </a:p>
          <a:p xmlns:a="http://schemas.openxmlformats.org/drawingml/2006/main">
            <a:pPr>
              <a:defRPr sz="2625" b="0">
                <a:solidFill>
                  <a:srgbClr val="BFCBE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FCBE0"/>
                </a:solidFill>
                <a:latin typeface="Arial"/>
                <a:ea typeface="Arial"/>
                <a:cs typeface="Arial"/>
              </a:rPr>
              <a:t>и пилота с первокурсниками</a:t>
            </a:r>
          </a:p>
        </p:txBody>
      </p:sp>
      <p:sp>
        <p:nvSpPr>
          <p:cNvPr id="6" name="max.ru/t149_hakaton_max_bot">
            <a:extLst xmlns:a="http://schemas.openxmlformats.org/drawingml/2006/main">
              <a:ext uri="{FF2B5EF4-FFF2-40B4-BE49-F238E27FC236}">
                <a16:creationId xmlns:a16="http://schemas.microsoft.com/office/drawing/2014/main" id="{87B5F298-6114-4E9A-9D8C-4B8A4ED8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CE5D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CE5D1"/>
                </a:solidFill>
                <a:latin typeface="Arial"/>
                <a:ea typeface="Arial"/>
                <a:cs typeface="Arial"/>
                <a:hlinkClick xmlns:r="http://schemas.openxmlformats.org/officeDocument/2006/relationships" r:id="Rd730024063c04d1f"/>
              </a:rPr>
              <a:t>max.ru/t149_hakaton_max_bot</a:t>
            </a:r>
          </a:p>
        </p:txBody>
      </p:sp>
    </p:spTree>
    <p:extLst>
      <p:ext uri="{BB962C8B-B14F-4D97-AF65-F5344CB8AC3E}">
        <p14:creationId xmlns:p14="http://schemas.microsoft.com/office/powerpoint/2010/main" val="12000506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ИЛОЖЕНИЕ ДЛЯ ВОПРОСОВ">
            <a:extLst xmlns:a="http://schemas.openxmlformats.org/drawingml/2006/main">
              <a:ext uri="{FF2B5EF4-FFF2-40B4-BE49-F238E27FC236}">
                <a16:creationId xmlns:a16="http://schemas.microsoft.com/office/drawing/2014/main" id="{CDB9378F-5E69-4116-BB1B-A4582655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ПРИЛОЖЕНИЕ ДЛЯ ВОПРОСОВ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79DDD277-3556-4C82-9DEA-E1006786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BB2168DF-2D9A-43E3-B8A2-1BBF023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Как устроен продукт">
            <a:extLst xmlns:a="http://schemas.openxmlformats.org/drawingml/2006/main">
              <a:ext uri="{FF2B5EF4-FFF2-40B4-BE49-F238E27FC236}">
                <a16:creationId xmlns:a16="http://schemas.microsoft.com/office/drawing/2014/main" id="{3EFD5AD4-7EBF-4730-B917-DC62682A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Как устроен продукт</a:t>
            </a:r>
          </a:p>
        </p:txBody>
      </p:sp>
      <p:sp>
        <p:nvSpPr>
          <p:cNvPr id="5" name="Чат MAX и React-приложение используют одну">
            <a:extLst xmlns:a="http://schemas.openxmlformats.org/drawingml/2006/main">
              <a:ext uri="{FF2B5EF4-FFF2-40B4-BE49-F238E27FC236}">
                <a16:creationId xmlns:a16="http://schemas.microsoft.com/office/drawing/2014/main" id="{949C2B95-0755-48EA-914B-5DAF6ECC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Чат MAX и React-приложение используют одну сессию</a:t>
            </a:r>
          </a:p>
        </p:txBody>
      </p:sp>
      <p:sp>
        <p:nvSpPr>
          <p:cNvPr id="6" name="Node.js считает сроки по правилам из справ">
            <a:extLst xmlns:a="http://schemas.openxmlformats.org/drawingml/2006/main">
              <a:ext uri="{FF2B5EF4-FFF2-40B4-BE49-F238E27FC236}">
                <a16:creationId xmlns:a16="http://schemas.microsoft.com/office/drawing/2014/main" id="{BDEA1C06-88A7-472D-8EA7-1AE00B9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Node.js считает сроки по правилам из справочника</a:t>
            </a:r>
          </a:p>
        </p:txBody>
      </p:sp>
      <p:sp>
        <p:nvSpPr>
          <p:cNvPr id="7" name="PostgreSQL сохраняет состояние и очередь с">
            <a:extLst xmlns:a="http://schemas.openxmlformats.org/drawingml/2006/main">
              <a:ext uri="{FF2B5EF4-FFF2-40B4-BE49-F238E27FC236}">
                <a16:creationId xmlns:a16="http://schemas.microsoft.com/office/drawing/2014/main" id="{6A6757EF-5EE1-4634-B390-175701B2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PostgreSQL сохраняет состояние и очередь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994028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ИЛОЖЕНИЕ ДЛЯ ВОПРОСОВ">
            <a:extLst xmlns:a="http://schemas.openxmlformats.org/drawingml/2006/main">
              <a:ext uri="{FF2B5EF4-FFF2-40B4-BE49-F238E27FC236}">
                <a16:creationId xmlns:a16="http://schemas.microsoft.com/office/drawing/2014/main" id="{FAC9CCAA-06A0-4B65-9EBB-827F774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ПРИЛОЖЕНИЕ ДЛЯ ВОПРОСОВ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0C57E5D-9454-4C34-B61F-D7DD9A28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222E1A93-B2EA-4F51-80C2-9BC76697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Границы и данные">
            <a:extLst xmlns:a="http://schemas.openxmlformats.org/drawingml/2006/main">
              <a:ext uri="{FF2B5EF4-FFF2-40B4-BE49-F238E27FC236}">
                <a16:creationId xmlns:a16="http://schemas.microsoft.com/office/drawing/2014/main" id="{07E4EBB1-2B93-45B6-9837-8A8D5B2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Границы и данные</a:t>
            </a:r>
          </a:p>
        </p:txBody>
      </p:sp>
      <p:sp>
        <p:nvSpPr>
          <p:cNvPr id="5" name="Демонстрационный режим, учебные профили">
            <a:extLst xmlns:a="http://schemas.openxmlformats.org/drawingml/2006/main">
              <a:ext uri="{FF2B5EF4-FFF2-40B4-BE49-F238E27FC236}">
                <a16:creationId xmlns:a16="http://schemas.microsoft.com/office/drawing/2014/main" id="{5F7F1647-C6B2-4A04-8981-CFCD4E79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Демонстрационный режим, учебные профили</a:t>
            </a:r>
          </a:p>
        </p:txBody>
      </p:sp>
      <p:sp>
        <p:nvSpPr>
          <p:cNvPr id="6" name="Сканов паспортов и медицинских документов ">
            <a:extLst xmlns:a="http://schemas.openxmlformats.org/drawingml/2006/main">
              <a:ext uri="{FF2B5EF4-FFF2-40B4-BE49-F238E27FC236}">
                <a16:creationId xmlns:a16="http://schemas.microsoft.com/office/drawing/2014/main" id="{A0AB71B9-354D-4D05-A415-DA0D76D0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Сканов паспортов и медицинских документов нет</a:t>
            </a:r>
          </a:p>
        </p:txBody>
      </p:sp>
      <p:sp>
        <p:nvSpPr>
          <p:cNvPr id="7" name="Нет подачи заявлений в МВД или системы вуз">
            <a:extLst xmlns:a="http://schemas.openxmlformats.org/drawingml/2006/main">
              <a:ext uri="{FF2B5EF4-FFF2-40B4-BE49-F238E27FC236}">
                <a16:creationId xmlns:a16="http://schemas.microsoft.com/office/drawing/2014/main" id="{59523C3D-3B9C-49B8-9C23-00BD511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Нет подачи заявлений в МВД или системы вуза</a:t>
            </a:r>
          </a:p>
        </p:txBody>
      </p:sp>
    </p:spTree>
    <p:extLst>
      <p:ext uri="{BB962C8B-B14F-4D97-AF65-F5344CB8AC3E}">
        <p14:creationId xmlns:p14="http://schemas.microsoft.com/office/powerpoint/2010/main" val="1842390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ИЛОЖЕНИЕ ДЛЯ ВОПРОСОВ">
            <a:extLst xmlns:a="http://schemas.openxmlformats.org/drawingml/2006/main">
              <a:ext uri="{FF2B5EF4-FFF2-40B4-BE49-F238E27FC236}">
                <a16:creationId xmlns:a16="http://schemas.microsoft.com/office/drawing/2014/main" id="{80570CEC-2D07-4969-87C4-0B3F391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458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58E6"/>
                </a:solidFill>
                <a:latin typeface="Arial"/>
                <a:ea typeface="Arial"/>
                <a:cs typeface="Arial"/>
              </a:rPr>
              <a:t>ПРИЛОЖЕНИЕ ДЛЯ ВОПРОСОВ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008565F3-1F1F-43B7-916A-9C7E0AB1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Черновик для обсуждения, 24.10.2026">
            <a:extLst xmlns:a="http://schemas.openxmlformats.org/drawingml/2006/main">
              <a:ext uri="{FF2B5EF4-FFF2-40B4-BE49-F238E27FC236}">
                <a16:creationId xmlns:a16="http://schemas.microsoft.com/office/drawing/2014/main" id="{36D5280B-77E7-408A-A095-5C2887F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3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37A"/>
                </a:solidFill>
                <a:latin typeface="Arial"/>
                <a:ea typeface="Arial"/>
                <a:cs typeface="Arial"/>
              </a:rPr>
              <a:t>Черновик для обсуждения, 24.10.2026</a:t>
            </a:r>
          </a:p>
        </p:txBody>
      </p:sp>
      <p:sp>
        <p:nvSpPr>
          <p:cNvPr id="4" name="Что мы уже знаем о пользе">
            <a:extLst xmlns:a="http://schemas.openxmlformats.org/drawingml/2006/main">
              <a:ext uri="{FF2B5EF4-FFF2-40B4-BE49-F238E27FC236}">
                <a16:creationId xmlns:a16="http://schemas.microsoft.com/office/drawing/2014/main" id="{445A8F7A-6B40-4BEC-A527-C68FD15D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039"/>
                </a:solidFill>
                <a:latin typeface="Arial"/>
                <a:ea typeface="Arial"/>
                <a:cs typeface="Arial"/>
              </a:rPr>
              <a:t>Что мы уже знаем о пользе</a:t>
            </a:r>
          </a:p>
        </p:txBody>
      </p:sp>
      <p:sp>
        <p:nvSpPr>
          <p:cNvPr id="5" name="Документальное исследование инструкций про">
            <a:extLst xmlns:a="http://schemas.openxmlformats.org/drawingml/2006/main">
              <a:ext uri="{FF2B5EF4-FFF2-40B4-BE49-F238E27FC236}">
                <a16:creationId xmlns:a16="http://schemas.microsoft.com/office/drawing/2014/main" id="{C3468190-8151-47DF-B525-EF8DB52B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Документальное исследование инструкций проведено</a:t>
            </a:r>
          </a:p>
        </p:txBody>
      </p:sp>
      <p:sp>
        <p:nvSpPr>
          <p:cNvPr id="6" name="Интервью и эффект для студентов ещё не изм">
            <a:extLst xmlns:a="http://schemas.openxmlformats.org/drawingml/2006/main">
              <a:ext uri="{FF2B5EF4-FFF2-40B4-BE49-F238E27FC236}">
                <a16:creationId xmlns:a16="http://schemas.microsoft.com/office/drawing/2014/main" id="{E7973068-0FAF-48D8-B55C-0CFD4AEC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Интервью и эффект для студентов ещё не измерены</a:t>
            </a:r>
          </a:p>
        </p:txBody>
      </p:sp>
      <p:sp>
        <p:nvSpPr>
          <p:cNvPr id="7" name="Первый тест сравнит памятку и личный план">
            <a:extLst xmlns:a="http://schemas.openxmlformats.org/drawingml/2006/main">
              <a:ext uri="{FF2B5EF4-FFF2-40B4-BE49-F238E27FC236}">
                <a16:creationId xmlns:a16="http://schemas.microsoft.com/office/drawing/2014/main" id="{DB8F06AA-BD47-4043-9B48-DA43A1C8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039"/>
                </a:solidFill>
                <a:latin typeface="Arial"/>
                <a:ea typeface="Arial"/>
                <a:cs typeface="Arial"/>
              </a:rPr>
              <a:t>Первый тест сравнит памятку и личный план</a:t>
            </a:r>
          </a:p>
        </p:txBody>
      </p:sp>
    </p:spTree>
    <p:extLst>
      <p:ext uri="{BB962C8B-B14F-4D97-AF65-F5344CB8AC3E}">
        <p14:creationId xmlns:p14="http://schemas.microsoft.com/office/powerpoint/2010/main" val="1195803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2026-10-23T21:39:58.8310000Z</dcterms:created>
  <dcterms:modified xsi:type="dcterms:W3CDTF">2026-10-23T21:39:58.8310000Z</dcterms:modified>
</coreProperties>
</file>