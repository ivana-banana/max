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03475520a4cad" /><Relationship Type="http://schemas.openxmlformats.org/officeDocument/2006/relationships/extended-properties" Target="/docProps/app.xml" Id="R52a502f0f67248cf" /><Relationship Type="http://schemas.openxmlformats.org/officeDocument/2006/relationships/officeDocument" Target="/ppt/presentation.xml" Id="R7708ffa955d94fc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d46c3ee124b472e"/>
  </p:sldMasterIdLst>
  <p:notesMasterIdLst>
    <p:notesMasterId xmlns:r="http://schemas.openxmlformats.org/officeDocument/2006/relationships" r:id="R484bed0aceb34056"/>
  </p:notesMasterIdLst>
  <p:sldIdLst>
    <p:sldId xmlns:r="http://schemas.openxmlformats.org/officeDocument/2006/relationships" id="256" r:id="Ra3e8b5a0ff7c4c49"/>
    <p:sldId xmlns:r="http://schemas.openxmlformats.org/officeDocument/2006/relationships" id="257" r:id="Rf3840e4859714c9d"/>
    <p:sldId xmlns:r="http://schemas.openxmlformats.org/officeDocument/2006/relationships" id="258" r:id="Rc8a0e225a16c466b"/>
    <p:sldId xmlns:r="http://schemas.openxmlformats.org/officeDocument/2006/relationships" id="259" r:id="R3bfaa40930de44d0"/>
    <p:sldId xmlns:r="http://schemas.openxmlformats.org/officeDocument/2006/relationships" id="260" r:id="Rde5735f371ba4861"/>
    <p:sldId xmlns:r="http://schemas.openxmlformats.org/officeDocument/2006/relationships" id="261" r:id="R4f77d1b1403a484f"/>
    <p:sldId xmlns:r="http://schemas.openxmlformats.org/officeDocument/2006/relationships" id="262" r:id="R9827a27d88fd407f"/>
    <p:sldId xmlns:r="http://schemas.openxmlformats.org/officeDocument/2006/relationships" id="263" r:id="Rff8ebe26949d4c8e"/>
    <p:sldId xmlns:r="http://schemas.openxmlformats.org/officeDocument/2006/relationships" id="264" r:id="R9d000223895744ca"/>
    <p:sldId xmlns:r="http://schemas.openxmlformats.org/officeDocument/2006/relationships" id="265" r:id="Rc3ca17a856c24427"/>
    <p:sldId xmlns:r="http://schemas.openxmlformats.org/officeDocument/2006/relationships" id="266" r:id="Rb9ce461c79da4f3b"/>
    <p:sldId xmlns:r="http://schemas.openxmlformats.org/officeDocument/2006/relationships" id="267" r:id="Rd05cc7e448874660"/>
    <p:sldId xmlns:r="http://schemas.openxmlformats.org/officeDocument/2006/relationships" id="268" r:id="Rf06af43107a74ea8"/>
    <p:sldId xmlns:r="http://schemas.openxmlformats.org/officeDocument/2006/relationships" id="269" r:id="Rea3ca437ed824708"/>
  </p:sldIdLst>
  <p:sldSz cx="12192000" cy="6858000"/>
  <p:notesSz cx="6858000" cy="9144000"/>
  <p:embeddedFontLst>
    <p:embeddedFont>
      <p:font typeface="Tektur"/>
      <p:bold xmlns:r="http://schemas.openxmlformats.org/officeDocument/2006/relationships" r:id="R1dccb5d01c934a7c"/>
    </p:embeddedFont>
    <p:embeddedFont>
      <p:font typeface="PT Sans"/>
      <p:regular xmlns:r="http://schemas.openxmlformats.org/officeDocument/2006/relationships" r:id="Rb23435777b494957"/>
      <p:bold xmlns:r="http://schemas.openxmlformats.org/officeDocument/2006/relationships" r:id="R002065ad44a84b9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9dbaa972d462f" /><Relationship Type="http://schemas.openxmlformats.org/officeDocument/2006/relationships/slideMaster" Target="/ppt/slideMasters/slideMaster1.xml" Id="Rfd46c3ee124b472e" /><Relationship Type="http://schemas.openxmlformats.org/officeDocument/2006/relationships/notesMaster" Target="/ppt/notesMasters/notesMaster1.xml" Id="R484bed0aceb34056" /><Relationship Type="http://schemas.openxmlformats.org/officeDocument/2006/relationships/presProps" Target="/ppt/presProps.xml" Id="R26e1f09176d14957" /><Relationship Type="http://schemas.openxmlformats.org/officeDocument/2006/relationships/tableStyles" Target="/ppt/tableStyles.xml" Id="R1d2844f087564bc8" /><Relationship Type="http://schemas.openxmlformats.org/officeDocument/2006/relationships/font" Target="/ppt/fonts/font.dat" Id="R1dccb5d01c934a7c" /><Relationship Type="http://schemas.openxmlformats.org/officeDocument/2006/relationships/font" Target="/ppt/fonts/font2.dat" Id="Rb23435777b494957" /><Relationship Type="http://schemas.openxmlformats.org/officeDocument/2006/relationships/font" Target="/ppt/fonts/font3.dat" Id="R002065ad44a84b92" /><Relationship Type="http://schemas.openxmlformats.org/officeDocument/2006/relationships/slide" Target="/ppt/slides/slide1.xml" Id="Ra3e8b5a0ff7c4c49" /><Relationship Type="http://schemas.openxmlformats.org/officeDocument/2006/relationships/slide" Target="/ppt/slides/slide2.xml" Id="Rf3840e4859714c9d" /><Relationship Type="http://schemas.openxmlformats.org/officeDocument/2006/relationships/slide" Target="/ppt/slides/slide3.xml" Id="Rc8a0e225a16c466b" /><Relationship Type="http://schemas.openxmlformats.org/officeDocument/2006/relationships/slide" Target="/ppt/slides/slide4.xml" Id="R3bfaa40930de44d0" /><Relationship Type="http://schemas.openxmlformats.org/officeDocument/2006/relationships/slide" Target="/ppt/slides/slide5.xml" Id="Rde5735f371ba4861" /><Relationship Type="http://schemas.openxmlformats.org/officeDocument/2006/relationships/slide" Target="/ppt/slides/slide6.xml" Id="R4f77d1b1403a484f" /><Relationship Type="http://schemas.openxmlformats.org/officeDocument/2006/relationships/slide" Target="/ppt/slides/slide7.xml" Id="R9827a27d88fd407f" /><Relationship Type="http://schemas.openxmlformats.org/officeDocument/2006/relationships/slide" Target="/ppt/slides/slide8.xml" Id="Rff8ebe26949d4c8e" /><Relationship Type="http://schemas.openxmlformats.org/officeDocument/2006/relationships/slide" Target="/ppt/slides/slide9.xml" Id="R9d000223895744ca" /><Relationship Type="http://schemas.openxmlformats.org/officeDocument/2006/relationships/slide" Target="/ppt/slides/slide10.xml" Id="Rc3ca17a856c24427" /><Relationship Type="http://schemas.openxmlformats.org/officeDocument/2006/relationships/slide" Target="/ppt/slides/slide11.xml" Id="Rb9ce461c79da4f3b" /><Relationship Type="http://schemas.openxmlformats.org/officeDocument/2006/relationships/slide" Target="/ppt/slides/slide12.xml" Id="Rd05cc7e448874660" /><Relationship Type="http://schemas.openxmlformats.org/officeDocument/2006/relationships/slide" Target="/ppt/slides/slide13.xml" Id="Rf06af43107a74ea8" /><Relationship Type="http://schemas.openxmlformats.org/officeDocument/2006/relationships/slide" Target="/ppt/slides/slide14.xml" Id="Rea3ca437ed82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f94c29fe943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72e53fede47b5" /><Relationship Type="http://schemas.openxmlformats.org/officeDocument/2006/relationships/notesMaster" Target="/ppt/notesMasters/notesMaster1.xml" Id="R5017f22301f841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37f0f49cfd4feb" /><Relationship Type="http://schemas.openxmlformats.org/officeDocument/2006/relationships/notesMaster" Target="/ppt/notesMasters/notesMaster1.xml" Id="Rbe2eee62c62f4a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207f3c6d340e1" /><Relationship Type="http://schemas.openxmlformats.org/officeDocument/2006/relationships/notesMaster" Target="/ppt/notesMasters/notesMaster1.xml" Id="Rb1b33379df284a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30065dc5e4eaa" /><Relationship Type="http://schemas.openxmlformats.org/officeDocument/2006/relationships/notesMaster" Target="/ppt/notesMasters/notesMaster1.xml" Id="R91fd4a1916cd4a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bcc8bf76de4fc3" /><Relationship Type="http://schemas.openxmlformats.org/officeDocument/2006/relationships/notesMaster" Target="/ppt/notesMasters/notesMaster1.xml" Id="R60ded9d043f9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17dbf59e0945b1" /><Relationship Type="http://schemas.openxmlformats.org/officeDocument/2006/relationships/notesMaster" Target="/ppt/notesMasters/notesMaster1.xml" Id="R4f6e03cf7dc543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24198dec14baa" /><Relationship Type="http://schemas.openxmlformats.org/officeDocument/2006/relationships/notesMaster" Target="/ppt/notesMasters/notesMaster1.xml" Id="Rf140e73f2e774e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a10354c12f4aee" /><Relationship Type="http://schemas.openxmlformats.org/officeDocument/2006/relationships/notesMaster" Target="/ppt/notesMasters/notesMaster1.xml" Id="R06027e361e8d4f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7dce011de5416f" /><Relationship Type="http://schemas.openxmlformats.org/officeDocument/2006/relationships/notesMaster" Target="/ppt/notesMasters/notesMaster1.xml" Id="R98a84b1c57b54a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c63ea4352424d" /><Relationship Type="http://schemas.openxmlformats.org/officeDocument/2006/relationships/notesMaster" Target="/ppt/notesMasters/notesMaster1.xml" Id="R6b6751e94a4f41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711edfaa7e4685" /><Relationship Type="http://schemas.openxmlformats.org/officeDocument/2006/relationships/notesMaster" Target="/ppt/notesMasters/notesMaster1.xml" Id="R5e8b5709d9da49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3b81a1de443b9" /><Relationship Type="http://schemas.openxmlformats.org/officeDocument/2006/relationships/notesMaster" Target="/ppt/notesMasters/notesMaster1.xml" Id="R36768d470d614c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2e3ea5eb844f18" /><Relationship Type="http://schemas.openxmlformats.org/officeDocument/2006/relationships/notesMaster" Target="/ppt/notesMasters/notesMaster1.xml" Id="R5c6af5b5cdf044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0b1f3bdc0441f8" /><Relationship Type="http://schemas.openxmlformats.org/officeDocument/2006/relationships/notesMaster" Target="/ppt/notesMasters/notesMaster1.xml" Id="R461b8922dadb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входит в семь минут. Бот: https://max.ru/t149_hakaton_max_bot. Репозиторий: https://github.com/M1hairu/MAX_GOATed_messenger. По HANDOFF.md на origin/main 1e623e5 на ВМ выкачен код 1761443, протокол 23.10.2026. Здесь не заявляется новый ручной прогон в мобильном и веб-MAX. Режим demo, учебные данные. Интеграций с МВД и внутренними системами вуза нет. Публичный HTTPS: https://81-26-178-75.sslip.io. Источник: HANDOFF.md и docs/verification-2026-10-23.md на 1e623e5.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ПРОВЕРКА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00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Код на ВМ по протоколу 23.10: 1761443</a:t>
            </a:r>
          </a:p>
          <a:p xmlns:a="http://schemas.openxmlformats.org/drawingml/2006/main">
            <a:r>
              <a:t>Перед защитой нужен новый ручной прогон в MAX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У иностранного первокурсника уже есть дата начала занятий. Но ещё есть личные сроки обязательных процедур: их нужно связать со своей датой въезда и подготовить документы. «Первые 90 дней» помогают сделать этот шаг в MAX. Мы команда «ИИ в массы». Покажем, как студент получает личный план и что мы предлагаем проверить с вузом. Это собирательная ситуация, не интервью. Источники: docs/product/problem.md, mvp.md. Подача: arkhipov-pitch-guide.md, цель и аудитория.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ИИ В МАССЫ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01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Иван Резников / Иван Пушкин</a:t>
            </a:r>
          </a:p>
          <a:p xmlns:a="http://schemas.openxmlformats.org/drawingml/2006/main">
            <a:r>
              <a:t>Александр Чичерин / Михаил Анцев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0:30–1:15. Студенту нужно соединить несколько вещей: свою ситуацию, требования процедуры и срок от даты въезда. В исследовании открытых инструкций команда зафиксировала информационные расхождения. Мы выбрали конкретную точку помощи: превратить правила в личный план подготовки. Частота ошибок студентов пока не измерена; документальное исследование не выдаём за подтверждение спроса. Результат продукта покажем сейчас. Источники: docs/product/problem.md, as-is-to-be.md. Не приводим непроверенные штрафы и размеры рынка.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ЗАДАЧА СТУДЕНТА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1:15–3:15. Первые 30 секунд объяснить: студент выбирает контекст и дату въезда, получает план, открывает карточку процедуры и видит подготовку и источник. Чат и мини-приложение используют одну сессию. Затем показ, плановый лимит 1:30: открыть заранее подготовленный учебный профиль, показать личную дату, карточку, отметку документа и включение напоминаний. Реплики: «Вот дата, рассчитанная по введённым данным. Здесь подготовка и основание. Включаем напоминания, чтобы вернуться к незавершённому шагу». Не ждать доставки молча и не изображать ускоренное время реальным интервалом. Не утверждать, что документы подаются в ведомство через бота. Если сбой — назвать его и использовать подписанный исторический экран. Это план тайминга, не выполненный прогон. Источники: docs/demo.md, src/core/deadlines.ts, src/bot/service.ts, docs/presentation/screens/app-card.jpg.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ПОКАЗ В MAX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03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Экран MAX от 27.09.2026, учебный профиль. Живой показ перед защитой проверяем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3:15–4:00. Эксперты предложили подумать о помощи ещё до поступления. Мы сделали первый шаг к более раннему сопровождению: в коде уже есть карточки до въезда по профилю вуза. Это подготовка к приезду, а не сервис выбора вуза или поступления. Следующее направление для исследования — выбор вуза, путь подачи и доступная поддержка. Для него сначала нужно проверить потребность и существующие официальные каналы, затем согласовать объём с вузом. На слайде слева — реализованные карточки, справа — предложение развития. Источники: отзыв пользователя 24.10.2026, docs/product/pre-arrival-sources.md, D-045, src/data/universities/*.json. Предложение не означает изменение MVP и обещание этих функций к финалу.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ОТВЕТ НА РЕКОМЕНДАЦИЮ ЖЮРИ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4:00–4:40. Второе замечание экспертов — обосновать спрос. Сейчас у нас есть документальное исследование и реализованный сценарий. Это основание для гипотезы, но ещё не подтверждение востребованности. Поэтому следующий шаг — интервью с целевыми студентами и наблюдаемое сравнение подготовки по памятке и с продуктом. Результат должен показать, помогает ли именно личный план, без подсказок авторов. Пользователь подтвердил 24.10: новых интервью, ответов вузов и договорённостей о пилоте нет. Не заявляем, что отзыв жюри заменяет пользовательское исследование. Источники: docs/product/hypothesis.md, pilot.md, jury-feedback.md, #27.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ОБОСНОВАНИЕ СПРОСА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05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Интервью, измеренного эффекта и договорённости о пилоте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4:40–5:15. Для студента результат конкретный: подготовка и личные даты в MAX. Для запуска предлагаем знакомый вузу канал: вставить ссылку в письмо о зачислении. Такой блок уже можно подготовить командой invite. Гипотезы для проверки — студент приходит в MAX до приезда, вуз получает меньше повторных вопросов. Партнёр пока не подтвердил этот канал, и приток пользователей мы не измеряли. Не обещаем регистрацию из любой страны и не называем непроверенные ограничения иностранных номеров. Источники: D-065, D-066, src/invitation.ts. Из docs/product/scaling.md не переносим спорную черновую таблицу как утверждённую позицию.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ПОЛЬЗА И КАНАЛ ЗАПУСКА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5:15–5:50. Сильную сторону, которую отметили эксперты, мы сохранили: расчётное ядро отделено от данных. КФУ, ИТМО и СПбГЭУ описаны профилями. Общая логика расчёта и напоминаний остаётся, а инструкции, контакты и места проверяются для конкретного вуза. Это устройство продукта и данные по открытым источникам; перечисленные вузы не заявляем партнёрами. Перед запуском нужен ответственный сотрудник, который подтвердит профиль. Источники: docs/add-university.md, src/data/loadUniversities.ts, src/data/universities/*.json.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ПЕРЕНОС В ДРУГОЙ ВУЗ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07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Профили по открытым источникам. Вузы пока не партнёры.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5:50–6:35. Метрики заданы до эксперимента. Сначала специалист проверяет правила и эталонные задания. Затем предлагаем десять–пятнадцать наблюдаемых сессий: сравнить памятку и продукт. Цели первого теста — не менее 80 процентов самостоятельного завершения, отсутствие критичных ошибок в контрольном наборе и снижение медианного времени минимум на 30 процентов без ухудшения правильности. Это заранее предложенные пороги, не достигнутые результаты. Если их не достигаем, меняем механику, а не переписываем критерий успеха задним числом. Партнёра и набора пока нет. Источники: docs/product/hypothesis.md, pilot.md.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ЦЕЛИ ПЕРВОГО ТЕСТА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08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Предложенные пороги, не результаты. Первый этап: 10–15 наблюдаемых сессий.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6:35–7:00. «Первые 90 дней» помогают иностранному студенту превратить общие требования в свой план подготовки в MAX. Мы начали сопровождение до приезда и сохранили один основной сценарий после въезда. Следующий шаг — проверить пользу вместе с вузом. Готовы показать продукт и обсудить первый пилот. Спасибо, готовы к вопросам. Источники: docs/product/pilot.md, mvp.md. Запуск и партнёрство пока не подтверждены.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ИИ В МАССЫ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вопроса, как учли обратную связь. Три направления отзыва показаны явно. Не заявляем, что спрос подтверждён, поступление реализовано или структура жюри утвердила дизайн. Полный предоставленный текст и матрица ответа: docs/presentation/jury-feedback.md.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ПРИЛОЖЕНИЕ / ОТЗЫВ ЖЮРИ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Рекомендацию о помощи до поступления учитываем как направление развития. Не превращаем её в обещание подбирать вузы, подавать документы или получать гранты. Сначала интервью, анализ действующих официальных каналов, проверка источников и партнёрского процесса, затем решение команды об объёме. Карточки до въезда — другая, уже реализованная часть. Источники: пользовательский отзыв, docs/presentation/jury-feedback.md, D-045.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ПРИЛОЖЕНИЕ / ДО ПОСТУПЛЕНИЯ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11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Вопросы для исследования. Эти функции в текущем продукте не реализованы.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Открывать по техническому вопросу. Архитектура: один Node.js-процесс, официальный SDK MAX, веб-интерфейс React, PostgreSQL. Срок рассчитывает явная функция по справочнику. MAX webhook и подписанные данные мини-приложения — реальные интеграции. Отметки о прохождении сообщает пользователь. Ведомственные статусы не читаем. При сетевой неопределённости возможен дубль сообщения; не обещать exactly-once. Источники: docs/architecture.md, src/main.ts, src/core/deadlines.ts, src/db/postgres-store.ts, src/bot/service.ts, src/webapp/initData.ts, README.md.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ПРИЛОЖЕНИЕ / УСТРОЙСТВО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Отвечать прямо. Правила сверяла команда, независимой юридической вычитки нет. На показе учебный профиль. Реальные пользователи требуют определения оператора и оснований обработки данных, а также проверки правил. MAX ID нельзя объявлять анонимным. Пользователь управляет напоминаниями и удалением профиля. Источники: README.md, docs/legal-review.md, docs/product/pilot.md, HANDOFF.md. Спрос и готовность платить не измерены. Студенту предлагаем бесплатный доступ; модель работы с вузом остаётся гипотезой.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ПРИЛОЖЕНИЕ / ГРАНИЦЫ</a:t>
            </a:r>
          </a:p>
          <a:p xmlns:a="http://schemas.openxmlformats.org/drawingml/2006/main">
            <a:r>
              <a:t>Снято со слайда по просьбе пользователя, сохранено для докладчика: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9c88b26c340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1781551a947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ed72580ba45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3d6732cad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59555819940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c91fd3ac145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9A82BD-46FE-49C4-8911-0BEFA8A52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0C31CF-CEDD-4DDA-A4F2-4A364F6468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24E339-7569-43BB-8C39-ED7D1EDAF7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9A4FE6-0EB2-4796-9A49-E04A0E262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E1318E-D24F-469E-B19E-D135DEC2D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5C74CA-C8DD-4F16-A51E-597F164D2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0E970D-E3F9-49C6-AB07-BB23E528F3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9E2A15-4D91-4C1A-B87D-0463FA52D2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3210C7-F252-4EEB-A9CF-6E3547399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7547EA-C1AB-472C-BB50-F3D384B9D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c18b3303dc4dcd" /><Relationship Type="http://schemas.openxmlformats.org/officeDocument/2006/relationships/slideLayout" Target="/ppt/slideLayouts/slideLayout1.xml" Id="Rba02f84147d1482b" /><Relationship Type="http://schemas.openxmlformats.org/officeDocument/2006/relationships/slideLayout" Target="/ppt/slideLayouts/slideLayout2.xml" Id="Rdcfb0dc3af5142fe" /><Relationship Type="http://schemas.openxmlformats.org/officeDocument/2006/relationships/slideLayout" Target="/ppt/slideLayouts/slideLayout3.xml" Id="R62a7a6f878084b5b" /><Relationship Type="http://schemas.openxmlformats.org/officeDocument/2006/relationships/slideLayout" Target="/ppt/slideLayouts/slideLayout4.xml" Id="R460446a50ea04d4d" /><Relationship Type="http://schemas.openxmlformats.org/officeDocument/2006/relationships/slideLayout" Target="/ppt/slideLayouts/slideLayout5.xml" Id="Rc8981faa5f164ace" /><Relationship Type="http://schemas.openxmlformats.org/officeDocument/2006/relationships/slideLayout" Target="/ppt/slideLayouts/slideLayout6.xml" Id="Rc8c5fa91aec7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02f84147d1482b"/>
    <p:sldLayoutId xmlns:r="http://schemas.openxmlformats.org/officeDocument/2006/relationships" id="2147483650" r:id="Rdcfb0dc3af5142fe"/>
    <p:sldLayoutId xmlns:r="http://schemas.openxmlformats.org/officeDocument/2006/relationships" id="2147483651" r:id="R62a7a6f878084b5b"/>
    <p:sldLayoutId xmlns:r="http://schemas.openxmlformats.org/officeDocument/2006/relationships" id="2147483652" r:id="R460446a50ea04d4d"/>
    <p:sldLayoutId xmlns:r="http://schemas.openxmlformats.org/officeDocument/2006/relationships" id="2147483653" r:id="Rc8981faa5f164ace"/>
    <p:sldLayoutId xmlns:r="http://schemas.openxmlformats.org/officeDocument/2006/relationships" id="2147483654" r:id="Rc8c5fa91aec7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be7dbd03446db" /><Relationship Type="http://schemas.openxmlformats.org/officeDocument/2006/relationships/hyperlink" Target="https://max.ru/t149_hakaton_max_bot" TargetMode="External" Id="Ra4ea5840bcb54bd5" /><Relationship Type="http://schemas.openxmlformats.org/officeDocument/2006/relationships/notesSlide" Target="/ppt/notesSlides/notesSlide1.xml" Id="R2891ed247035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e55e2a74844ce" /><Relationship Type="http://schemas.openxmlformats.org/officeDocument/2006/relationships/notesSlide" Target="/ppt/notesSlides/notesSlide2.xml" Id="Rd308261650eb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c72993c694fff" /><Relationship Type="http://schemas.openxmlformats.org/officeDocument/2006/relationships/notesSlide" Target="/ppt/notesSlides/notesSlide3.xml" Id="R55b9a96e4fc8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1a96df1834879" /><Relationship Type="http://schemas.openxmlformats.org/officeDocument/2006/relationships/image" Target="/ppt/media/image.jpeg" Id="R5302086ad1e54942" /><Relationship Type="http://schemas.openxmlformats.org/officeDocument/2006/relationships/notesSlide" Target="/ppt/notesSlides/notesSlide4.xml" Id="R06a4ef6612f0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7fdd600384a8d" /><Relationship Type="http://schemas.openxmlformats.org/officeDocument/2006/relationships/notesSlide" Target="/ppt/notesSlides/notesSlide5.xml" Id="R2955ba0fc6c740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4407727b74a12" /><Relationship Type="http://schemas.openxmlformats.org/officeDocument/2006/relationships/notesSlide" Target="/ppt/notesSlides/notesSlide6.xml" Id="R041b82d88aeb4a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2d7318d2f40a8" /><Relationship Type="http://schemas.openxmlformats.org/officeDocument/2006/relationships/notesSlide" Target="/ppt/notesSlides/notesSlide7.xml" Id="R285eb4f3c55347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d1c9840f34668" /><Relationship Type="http://schemas.openxmlformats.org/officeDocument/2006/relationships/notesSlide" Target="/ppt/notesSlides/notesSlide8.xml" Id="R8306fdae481d42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928770eb642f1" /><Relationship Type="http://schemas.openxmlformats.org/officeDocument/2006/relationships/notesSlide" Target="/ppt/notesSlides/notesSlide9.xml" Id="R3a2adf12304f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b2212a61c47da" /><Relationship Type="http://schemas.openxmlformats.org/officeDocument/2006/relationships/hyperlink" Target="https://max.ru/t149_hakaton_max_bot" TargetMode="External" Id="Rbfb45cdcc631477b" /><Relationship Type="http://schemas.openxmlformats.org/officeDocument/2006/relationships/notesSlide" Target="/ppt/notesSlides/notesSlide10.xml" Id="R92c77a8ce6834e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5ef5e95604f5c" /><Relationship Type="http://schemas.openxmlformats.org/officeDocument/2006/relationships/notesSlide" Target="/ppt/notesSlides/notesSlide11.xml" Id="Rd6546ae407be46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737d831a34b9f" /><Relationship Type="http://schemas.openxmlformats.org/officeDocument/2006/relationships/notesSlide" Target="/ppt/notesSlides/notesSlide12.xml" Id="Rc2ff9d8e47fc48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29ee2d4914991" /><Relationship Type="http://schemas.openxmlformats.org/officeDocument/2006/relationships/notesSlide" Target="/ppt/notesSlides/notesSlide13.xml" Id="Rd43f042f567f47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7a6abd3fd4f52" /><Relationship Type="http://schemas.openxmlformats.org/officeDocument/2006/relationships/notesSlide" Target="/ppt/notesSlides/notesSlide14.xml" Id="R7532b65626f1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7C9CD-8B91-48FD-B254-3D8B722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ДОСТУП&#10;К ПРОДУКТУ">
            <a:extLst xmlns:a="http://schemas.openxmlformats.org/drawingml/2006/main">
              <a:ext uri="{FF2B5EF4-FFF2-40B4-BE49-F238E27FC236}">
                <a16:creationId xmlns:a16="http://schemas.microsoft.com/office/drawing/2014/main" id="{13E3A1F1-9B05-4285-9599-9FD40912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ДОСТУП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К ПРОДУКТУ</a:t>
            </a:r>
          </a:p>
        </p:txBody>
      </p:sp>
      <p:sp>
        <p:nvSpPr>
          <p:cNvPr id="5" name="Демонстрационный режим, учеб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72E68FA9-6A77-4703-946C-1D3EA413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5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Демонстрационный режим, учебный профиль</a:t>
            </a:r>
          </a:p>
        </p:txBody>
      </p:sp>
      <p:sp>
        <p:nvSpPr>
          <p:cNvPr id="6" name="max.ru/t149_hakaton_max_bot">
            <a:extLst xmlns:a="http://schemas.openxmlformats.org/drawingml/2006/main">
              <a:ext uri="{FF2B5EF4-FFF2-40B4-BE49-F238E27FC236}">
                <a16:creationId xmlns:a16="http://schemas.microsoft.com/office/drawing/2014/main" id="{8F9C56D7-F4BA-4BD6-915B-01293B0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B3151B"/>
                </a:solidFill>
                <a:latin typeface="PT Sans"/>
                <a:ea typeface="PT Sans"/>
                <a:cs typeface="PT Sans"/>
              </a:defRPr>
            </a:pPr>
            <a:r>
              <a:rPr sz="2025" b="0">
                <a:solidFill>
                  <a:srgbClr val="B3151B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a4ea5840bcb54bd5"/>
              </a:rPr>
              <a:t>max.ru/t149_hakaton_max_bot</a:t>
            </a:r>
          </a:p>
        </p:txBody>
      </p:sp>
    </p:spTree>
    <p:extLst>
      <p:ext uri="{BB962C8B-B14F-4D97-AF65-F5344CB8AC3E}">
        <p14:creationId xmlns:p14="http://schemas.microsoft.com/office/powerpoint/2010/main" val="2015318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9A93-9186-4823-A15D-199122F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8FF7-5764-47DD-9E7E-2BB0BBE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62000"/>
            <a:ext cx="48577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5" name="ПЕРВЫЕ">
            <a:extLst xmlns:a="http://schemas.openxmlformats.org/drawingml/2006/main">
              <a:ext uri="{FF2B5EF4-FFF2-40B4-BE49-F238E27FC236}">
                <a16:creationId xmlns:a16="http://schemas.microsoft.com/office/drawing/2014/main" id="{E94AB747-A579-4DF2-9D19-4CF90933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5850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ПЕРВЫЕ</a:t>
            </a:r>
          </a:p>
        </p:txBody>
      </p:sp>
      <p:sp>
        <p:nvSpPr>
          <p:cNvPr id="6" name="90">
            <a:extLst xmlns:a="http://schemas.openxmlformats.org/drawingml/2006/main">
              <a:ext uri="{FF2B5EF4-FFF2-40B4-BE49-F238E27FC236}">
                <a16:creationId xmlns:a16="http://schemas.microsoft.com/office/drawing/2014/main" id="{B3A424C8-3742-4242-AC63-C4714DD5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66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20250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90</a:t>
            </a:r>
          </a:p>
        </p:txBody>
      </p:sp>
      <p:sp>
        <p:nvSpPr>
          <p:cNvPr id="7" name="ДНЕЙ">
            <a:extLst xmlns:a="http://schemas.openxmlformats.org/drawingml/2006/main">
              <a:ext uri="{FF2B5EF4-FFF2-40B4-BE49-F238E27FC236}">
                <a16:creationId xmlns:a16="http://schemas.microsoft.com/office/drawing/2014/main" id="{A2D3F562-6FC6-418E-8CC9-74108DE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750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7500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ДНЕЙ</a:t>
            </a:r>
          </a:p>
        </p:txBody>
      </p:sp>
      <p:sp>
        <p:nvSpPr>
          <p:cNvPr id="8" name="Личный план иностранного студента в MAX">
            <a:extLst xmlns:a="http://schemas.openxmlformats.org/drawingml/2006/main">
              <a:ext uri="{FF2B5EF4-FFF2-40B4-BE49-F238E27FC236}">
                <a16:creationId xmlns:a16="http://schemas.microsoft.com/office/drawing/2014/main" id="{11F8BFBD-7232-4067-89A0-B73F1297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pPr>
            <a:r>
              <a:rPr sz="2925" b="0">
                <a:solidFill>
                  <a:srgbClr val="F1ECE2"/>
                </a:solidFill>
                <a:latin typeface="PT Sans"/>
                <a:ea typeface="PT Sans"/>
                <a:cs typeface="PT Sans"/>
              </a:rPr>
              <a:t>Личный план иностранного студента в MAX</a:t>
            </a:r>
          </a:p>
        </p:txBody>
      </p:sp>
    </p:spTree>
    <p:extLst>
      <p:ext uri="{BB962C8B-B14F-4D97-AF65-F5344CB8AC3E}">
        <p14:creationId xmlns:p14="http://schemas.microsoft.com/office/powerpoint/2010/main" val="1543691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1E4ED-3EFD-484C-A1A3-0ACA003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КОГДА И С ЧЕМ&#10;ПРИХОДИТЬ?">
            <a:extLst xmlns:a="http://schemas.openxmlformats.org/drawingml/2006/main">
              <a:ext uri="{FF2B5EF4-FFF2-40B4-BE49-F238E27FC236}">
                <a16:creationId xmlns:a16="http://schemas.microsoft.com/office/drawing/2014/main" id="{78A1D23E-0F81-49A5-A330-4963E72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КОГДА И С ЧЕМ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ПРИХОДИТЬ?</a:t>
            </a:r>
          </a:p>
        </p:txBody>
      </p:sp>
      <p:sp>
        <p:nvSpPr>
          <p:cNvPr id="5" name="Инструкции общие.&#10;Дата въезда у каждого своя.">
            <a:extLst xmlns:a="http://schemas.openxmlformats.org/drawingml/2006/main">
              <a:ext uri="{FF2B5EF4-FFF2-40B4-BE49-F238E27FC236}">
                <a16:creationId xmlns:a16="http://schemas.microsoft.com/office/drawing/2014/main" id="{9204325C-6893-4514-8AED-8445443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8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Инструкции общие.</a:t>
            </a:r>
          </a:p>
          <a:p xmlns:a="http://schemas.openxmlformats.org/drawingml/2006/main">
            <a:pPr>
              <a:buNone/>
              <a:defRPr sz="28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8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Дата въезда у каждого своя.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8DF8814-A1DE-4A02-B9C4-FB6D1483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5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01</a:t>
            </a:r>
          </a:p>
        </p:txBody>
      </p:sp>
      <p:sp>
        <p:nvSpPr>
          <p:cNvPr id="7" name="Найти свой случай">
            <a:extLst xmlns:a="http://schemas.openxmlformats.org/drawingml/2006/main">
              <a:ext uri="{FF2B5EF4-FFF2-40B4-BE49-F238E27FC236}">
                <a16:creationId xmlns:a16="http://schemas.microsoft.com/office/drawing/2014/main" id="{FB9267F9-5A9D-4CCA-9E84-BA2EA259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Найти свой случай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2E3DEABA-F12A-4247-B11C-CF37673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0025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5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02</a:t>
            </a:r>
          </a:p>
        </p:txBody>
      </p:sp>
      <p:sp>
        <p:nvSpPr>
          <p:cNvPr id="9" name="Отсчитать сроки">
            <a:extLst xmlns:a="http://schemas.openxmlformats.org/drawingml/2006/main">
              <a:ext uri="{FF2B5EF4-FFF2-40B4-BE49-F238E27FC236}">
                <a16:creationId xmlns:a16="http://schemas.microsoft.com/office/drawing/2014/main" id="{3B877CA9-9FD4-4CBE-8451-663A6011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Отсчитать сроки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7486587B-44F3-450C-96B4-A74EB4D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00625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5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03</a:t>
            </a:r>
          </a:p>
        </p:txBody>
      </p:sp>
      <p:sp>
        <p:nvSpPr>
          <p:cNvPr id="11" name="Подготовить документы">
            <a:extLst xmlns:a="http://schemas.openxmlformats.org/drawingml/2006/main">
              <a:ext uri="{FF2B5EF4-FFF2-40B4-BE49-F238E27FC236}">
                <a16:creationId xmlns:a16="http://schemas.microsoft.com/office/drawing/2014/main" id="{FD67766D-ED18-4592-BA9B-5AA32AB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Подготовить документы</a:t>
            </a:r>
          </a:p>
        </p:txBody>
      </p:sp>
    </p:spTree>
    <p:extLst>
      <p:ext uri="{BB962C8B-B14F-4D97-AF65-F5344CB8AC3E}">
        <p14:creationId xmlns:p14="http://schemas.microsoft.com/office/powerpoint/2010/main" val="625017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59E79-34BB-4AF9-AB8C-441810B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СВОЯ ДАТА.&#10;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E0D195EE-810C-464C-93FC-B0845EF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СВОЯ ДАТА.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СЛЕДУЮЩИЙ ШАГ.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BB8199D-C247-4B98-A594-F99527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1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01</a:t>
            </a:r>
          </a:p>
        </p:txBody>
      </p:sp>
      <p:sp>
        <p:nvSpPr>
          <p:cNvPr id="6" name="План с личными датами">
            <a:extLst xmlns:a="http://schemas.openxmlformats.org/drawingml/2006/main">
              <a:ext uri="{FF2B5EF4-FFF2-40B4-BE49-F238E27FC236}">
                <a16:creationId xmlns:a16="http://schemas.microsoft.com/office/drawing/2014/main" id="{5CCC0E08-6EA8-450B-ADE7-5269218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7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План с личными датами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8FFFB4AF-2FEC-4D06-95DE-EED0049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1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02</a:t>
            </a:r>
          </a:p>
        </p:txBody>
      </p:sp>
      <p:sp>
        <p:nvSpPr>
          <p:cNvPr id="8" name="Карточка с документами">
            <a:extLst xmlns:a="http://schemas.openxmlformats.org/drawingml/2006/main">
              <a:ext uri="{FF2B5EF4-FFF2-40B4-BE49-F238E27FC236}">
                <a16:creationId xmlns:a16="http://schemas.microsoft.com/office/drawing/2014/main" id="{6C4B6495-86EC-4BD1-BCA9-460206F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7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Карточка с документами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D37D3F9D-30BF-4CD4-9416-4C18C78D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1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03</a:t>
            </a:r>
          </a:p>
        </p:txBody>
      </p:sp>
      <p:sp>
        <p:nvSpPr>
          <p:cNvPr id="10" name="Напоминание в чате">
            <a:extLst xmlns:a="http://schemas.openxmlformats.org/drawingml/2006/main">
              <a:ext uri="{FF2B5EF4-FFF2-40B4-BE49-F238E27FC236}">
                <a16:creationId xmlns:a16="http://schemas.microsoft.com/office/drawing/2014/main" id="{3FCC4CF9-BC7F-4D2A-AE67-5093E79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7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Напоминание в чате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7291C-C111-4B76-ACFC-3AB087A92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2086ad1e54942"/>
          <a:stretch xmlns:a="http://schemas.openxmlformats.org/drawingml/2006/main"/>
        </p:blipFill>
        <p:spPr>
          <a:xfrm xmlns:a="http://schemas.openxmlformats.org/drawingml/2006/main">
            <a:off x="8525647" y="942975"/>
            <a:ext cx="2455905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04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ED506-9B87-4A20-BE8D-D48E5C1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НАЧАТЬ ПОМОЩЬ&#10;ДО ПРИЕЗДА">
            <a:extLst xmlns:a="http://schemas.openxmlformats.org/drawingml/2006/main">
              <a:ext uri="{FF2B5EF4-FFF2-40B4-BE49-F238E27FC236}">
                <a16:creationId xmlns:a16="http://schemas.microsoft.com/office/drawing/2014/main" id="{39B38E88-125D-450E-B595-478994CB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НАЧАТЬ ПОМОЩЬ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ДО ПРИЕЗДА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53CE-CD4F-4A35-94CA-5B61435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229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6" name="УЖЕ В КОДЕ: ДО ВЪЕЗДА">
            <a:extLst xmlns:a="http://schemas.openxmlformats.org/drawingml/2006/main">
              <a:ext uri="{FF2B5EF4-FFF2-40B4-BE49-F238E27FC236}">
                <a16:creationId xmlns:a16="http://schemas.microsoft.com/office/drawing/2014/main" id="{A754EEF0-5C16-4EAE-A8A6-87C7E13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146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1725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УЖЕ В КОДЕ: ДО ВЪЕЗДА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0AF6-B927-457F-8BD5-E7F5D85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295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8" name="ИССЛЕДУЕМ: ДО ПОСТУПЛЕНИЯ">
            <a:extLst xmlns:a="http://schemas.openxmlformats.org/drawingml/2006/main">
              <a:ext uri="{FF2B5EF4-FFF2-40B4-BE49-F238E27FC236}">
                <a16:creationId xmlns:a16="http://schemas.microsoft.com/office/drawing/2014/main" id="{380A7E97-BBBC-47D2-8C1A-43A57AEB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146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1725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ИССЛЕДУЕМ: ДО ПОСТУПЛЕНИЯ</a:t>
            </a:r>
          </a:p>
        </p:txBody>
      </p:sp>
      <p:sp>
        <p:nvSpPr>
          <p:cNvPr id="9" name="Приглашение и виза">
            <a:extLst xmlns:a="http://schemas.openxmlformats.org/drawingml/2006/main">
              <a:ext uri="{FF2B5EF4-FFF2-40B4-BE49-F238E27FC236}">
                <a16:creationId xmlns:a16="http://schemas.microsoft.com/office/drawing/2014/main" id="{AAD6AA4D-633A-448E-8290-0937E073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Приглашение и виза</a:t>
            </a:r>
          </a:p>
        </p:txBody>
      </p:sp>
      <p:sp>
        <p:nvSpPr>
          <p:cNvPr id="10" name="Подготовка документов">
            <a:extLst xmlns:a="http://schemas.openxmlformats.org/drawingml/2006/main">
              <a:ext uri="{FF2B5EF4-FFF2-40B4-BE49-F238E27FC236}">
                <a16:creationId xmlns:a16="http://schemas.microsoft.com/office/drawing/2014/main" id="{8DB681C3-FA69-496C-8AD0-7D91F1A8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243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Подготовка документов</a:t>
            </a:r>
          </a:p>
        </p:txBody>
      </p:sp>
      <p:sp>
        <p:nvSpPr>
          <p:cNvPr id="11" name="Источники и контакты">
            <a:extLst xmlns:a="http://schemas.openxmlformats.org/drawingml/2006/main">
              <a:ext uri="{FF2B5EF4-FFF2-40B4-BE49-F238E27FC236}">
                <a16:creationId xmlns:a16="http://schemas.microsoft.com/office/drawing/2014/main" id="{CAE1507E-F90C-4D4C-BAD9-A2D4F1D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01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Источники и контакты</a:t>
            </a:r>
          </a:p>
        </p:txBody>
      </p:sp>
      <p:sp>
        <p:nvSpPr>
          <p:cNvPr id="12" name="Выбор вуза">
            <a:extLst xmlns:a="http://schemas.openxmlformats.org/drawingml/2006/main">
              <a:ext uri="{FF2B5EF4-FFF2-40B4-BE49-F238E27FC236}">
                <a16:creationId xmlns:a16="http://schemas.microsoft.com/office/drawing/2014/main" id="{15DF9415-FF30-4D39-B563-7D612B5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385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Выбор вуза</a:t>
            </a:r>
          </a:p>
        </p:txBody>
      </p:sp>
      <p:sp>
        <p:nvSpPr>
          <p:cNvPr id="13" name="Подача документов">
            <a:extLst xmlns:a="http://schemas.openxmlformats.org/drawingml/2006/main">
              <a:ext uri="{FF2B5EF4-FFF2-40B4-BE49-F238E27FC236}">
                <a16:creationId xmlns:a16="http://schemas.microsoft.com/office/drawing/2014/main" id="{7B3B5ACD-8B42-41CF-8F0D-05C1902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243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Подача документов</a:t>
            </a:r>
          </a:p>
        </p:txBody>
      </p:sp>
      <p:sp>
        <p:nvSpPr>
          <p:cNvPr id="14" name="Поддержка и гранты">
            <a:extLst xmlns:a="http://schemas.openxmlformats.org/drawingml/2006/main">
              <a:ext uri="{FF2B5EF4-FFF2-40B4-BE49-F238E27FC236}">
                <a16:creationId xmlns:a16="http://schemas.microsoft.com/office/drawing/2014/main" id="{4B01F9D0-2E4A-4EF7-A74C-7B50EF84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2101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325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Поддержка и гранты</a:t>
            </a:r>
          </a:p>
        </p:txBody>
      </p:sp>
    </p:spTree>
    <p:extLst>
      <p:ext uri="{BB962C8B-B14F-4D97-AF65-F5344CB8AC3E}">
        <p14:creationId xmlns:p14="http://schemas.microsoft.com/office/powerpoint/2010/main" val="870531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43C3B-36C2-4BBE-A1CC-1663218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ЧТО ИЗВЕСТНО&#10;И ЧТО ПРОВЕРИМ">
            <a:extLst xmlns:a="http://schemas.openxmlformats.org/drawingml/2006/main">
              <a:ext uri="{FF2B5EF4-FFF2-40B4-BE49-F238E27FC236}">
                <a16:creationId xmlns:a16="http://schemas.microsoft.com/office/drawing/2014/main" id="{215739CF-3D1B-418C-A748-FC81B10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ЧТО ИЗВЕСТНО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И ЧТО ПРОВЕРИМ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0A7D-1E75-4E91-996D-8A8635E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6" name="ЕСТЬ ОСНОВАНИЕ">
            <a:extLst xmlns:a="http://schemas.openxmlformats.org/drawingml/2006/main">
              <a:ext uri="{FF2B5EF4-FFF2-40B4-BE49-F238E27FC236}">
                <a16:creationId xmlns:a16="http://schemas.microsoft.com/office/drawing/2014/main" id="{1CA6A293-9EBF-48A9-9DFA-4D8CE5A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ЕСТЬ ОСНОВАНИЕ</a:t>
            </a:r>
          </a:p>
        </p:txBody>
      </p:sp>
      <p:sp>
        <p:nvSpPr>
          <p:cNvPr id="7" name="Исследование открытых инструкций">
            <a:extLst xmlns:a="http://schemas.openxmlformats.org/drawingml/2006/main">
              <a:ext uri="{FF2B5EF4-FFF2-40B4-BE49-F238E27FC236}">
                <a16:creationId xmlns:a16="http://schemas.microsoft.com/office/drawing/2014/main" id="{BE711E95-6372-4860-BEFD-D8297930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81350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Исследование открытых инструкций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4B589-3871-48D2-91C0-135DA94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ЕСТЬ ВОПРОС">
            <a:extLst xmlns:a="http://schemas.openxmlformats.org/drawingml/2006/main">
              <a:ext uri="{FF2B5EF4-FFF2-40B4-BE49-F238E27FC236}">
                <a16:creationId xmlns:a16="http://schemas.microsoft.com/office/drawing/2014/main" id="{2E39EA94-D727-4552-AEE4-34C18A5B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ЕСТЬ ВОПРОС</a:t>
            </a:r>
          </a:p>
        </p:txBody>
      </p:sp>
      <p:sp>
        <p:nvSpPr>
          <p:cNvPr id="10" name="Помогает ли личный план студенту?">
            <a:extLst xmlns:a="http://schemas.openxmlformats.org/drawingml/2006/main">
              <a:ext uri="{FF2B5EF4-FFF2-40B4-BE49-F238E27FC236}">
                <a16:creationId xmlns:a16="http://schemas.microsoft.com/office/drawing/2014/main" id="{048DF0C7-C211-47B5-BFBD-F059DB1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81475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Помогает ли личный план студенту?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891D3-7D8D-49B7-AAC2-F1D09AE1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12" name="ЕСТЬ СПОСОБ ПРОВЕРКИ">
            <a:extLst xmlns:a="http://schemas.openxmlformats.org/drawingml/2006/main">
              <a:ext uri="{FF2B5EF4-FFF2-40B4-BE49-F238E27FC236}">
                <a16:creationId xmlns:a16="http://schemas.microsoft.com/office/drawing/2014/main" id="{BC28C917-72D2-4CDB-9DBE-05C1990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ЕСТЬ СПОСОБ ПРОВЕРКИ</a:t>
            </a:r>
          </a:p>
        </p:txBody>
      </p:sp>
      <p:sp>
        <p:nvSpPr>
          <p:cNvPr id="13" name="Сравнить памятку и продукт">
            <a:extLst xmlns:a="http://schemas.openxmlformats.org/drawingml/2006/main">
              <a:ext uri="{FF2B5EF4-FFF2-40B4-BE49-F238E27FC236}">
                <a16:creationId xmlns:a16="http://schemas.microsoft.com/office/drawing/2014/main" id="{04402FC0-BC75-420B-B09B-67C528A3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81600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Сравнить памятку и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1607816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DB7DB-9781-473E-B3CE-77D1946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ПЛАН РЯДОМ&#10;С ПЕРЕПИСКОЙ">
            <a:extLst xmlns:a="http://schemas.openxmlformats.org/drawingml/2006/main">
              <a:ext uri="{FF2B5EF4-FFF2-40B4-BE49-F238E27FC236}">
                <a16:creationId xmlns:a16="http://schemas.microsoft.com/office/drawing/2014/main" id="{1E3640BC-7412-4077-8EC6-D7CDE6B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ПЛАН РЯДОМ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 ПЕРЕПИСКОЙ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F2789-368B-48E5-9EEF-41447B7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6" name="СТУДЕНТ">
            <a:extLst xmlns:a="http://schemas.openxmlformats.org/drawingml/2006/main">
              <a:ext uri="{FF2B5EF4-FFF2-40B4-BE49-F238E27FC236}">
                <a16:creationId xmlns:a16="http://schemas.microsoft.com/office/drawing/2014/main" id="{39103455-DEBC-40F5-A196-570DF9B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СТУДЕНТ</a:t>
            </a:r>
          </a:p>
        </p:txBody>
      </p:sp>
      <p:sp>
        <p:nvSpPr>
          <p:cNvPr id="7" name="Личная дата, документы и напоминание">
            <a:extLst xmlns:a="http://schemas.openxmlformats.org/drawingml/2006/main">
              <a:ext uri="{FF2B5EF4-FFF2-40B4-BE49-F238E27FC236}">
                <a16:creationId xmlns:a16="http://schemas.microsoft.com/office/drawing/2014/main" id="{7B718902-0BCB-4C5B-AEB3-393BB0EC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81350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Личная дата, документы и напоминание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B48D1-9DDA-4439-B0B4-062ED5BD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ВУЗ">
            <a:extLst xmlns:a="http://schemas.openxmlformats.org/drawingml/2006/main">
              <a:ext uri="{FF2B5EF4-FFF2-40B4-BE49-F238E27FC236}">
                <a16:creationId xmlns:a16="http://schemas.microsoft.com/office/drawing/2014/main" id="{F04A905D-FCA8-45F3-863A-AF24BAC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ВУЗ</a:t>
            </a:r>
          </a:p>
        </p:txBody>
      </p:sp>
      <p:sp>
        <p:nvSpPr>
          <p:cNvPr id="10" name="Гипотеза: меньше повторных вопросов">
            <a:extLst xmlns:a="http://schemas.openxmlformats.org/drawingml/2006/main">
              <a:ext uri="{FF2B5EF4-FFF2-40B4-BE49-F238E27FC236}">
                <a16:creationId xmlns:a16="http://schemas.microsoft.com/office/drawing/2014/main" id="{4271004D-543C-427D-B8A0-F81C08A0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81475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Гипотеза: меньше повторных вопросов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0D943-0242-4354-B3B7-3EF4E152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12" name="MAX">
            <a:extLst xmlns:a="http://schemas.openxmlformats.org/drawingml/2006/main">
              <a:ext uri="{FF2B5EF4-FFF2-40B4-BE49-F238E27FC236}">
                <a16:creationId xmlns:a16="http://schemas.microsoft.com/office/drawing/2014/main" id="{D5E4D1CD-A6AC-4357-A7A3-DE99256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2025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MAX</a:t>
            </a:r>
          </a:p>
        </p:txBody>
      </p:sp>
      <p:sp>
        <p:nvSpPr>
          <p:cNvPr id="13" name="Гипотеза: вход по ссылке из письма вуза">
            <a:extLst xmlns:a="http://schemas.openxmlformats.org/drawingml/2006/main">
              <a:ext uri="{FF2B5EF4-FFF2-40B4-BE49-F238E27FC236}">
                <a16:creationId xmlns:a16="http://schemas.microsoft.com/office/drawing/2014/main" id="{0BDC0C52-69CC-4E0D-AE11-4D4F97A3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81600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Гипотеза: вход по ссылке из письма вуза</a:t>
            </a:r>
          </a:p>
        </p:txBody>
      </p:sp>
    </p:spTree>
    <p:extLst>
      <p:ext uri="{BB962C8B-B14F-4D97-AF65-F5344CB8AC3E}">
        <p14:creationId xmlns:p14="http://schemas.microsoft.com/office/powerpoint/2010/main" val="1508313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656F8-CBDD-4396-9193-0A43D788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ОДНО ЯДРО.&#10;РАЗ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F2C13CA8-82E5-4FE4-A968-DD39282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ОДНО ЯДРО.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РАЗНЫЕ ДАННЫЕ.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D7C54-20D1-41EA-9867-0618742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7147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6" name="РАСЧЁТ&#10;И НАПОМИНАНИЯ">
            <a:extLst xmlns:a="http://schemas.openxmlformats.org/drawingml/2006/main">
              <a:ext uri="{FF2B5EF4-FFF2-40B4-BE49-F238E27FC236}">
                <a16:creationId xmlns:a16="http://schemas.microsoft.com/office/drawing/2014/main" id="{DB47CCE2-C996-47DA-B6B5-E305A94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2850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РАСЧЁТ</a:t>
            </a:r>
          </a:p>
          <a:p xmlns:a="http://schemas.openxmlformats.org/drawingml/2006/main">
            <a:pPr>
              <a:buNone/>
              <a:defRPr sz="2850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2850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И НАПОМИНАНИЯ</a:t>
            </a:r>
          </a:p>
        </p:txBody>
      </p:sp>
      <p:sp>
        <p:nvSpPr>
          <p:cNvPr id="7" name="КФУ">
            <a:extLst xmlns:a="http://schemas.openxmlformats.org/drawingml/2006/main">
              <a:ext uri="{FF2B5EF4-FFF2-40B4-BE49-F238E27FC236}">
                <a16:creationId xmlns:a16="http://schemas.microsoft.com/office/drawing/2014/main" id="{B8D2F992-E22B-4686-B86C-779D7254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382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КФУ</a:t>
            </a:r>
          </a:p>
        </p:txBody>
      </p:sp>
      <p:sp>
        <p:nvSpPr>
          <p:cNvPr id="8" name="ИТМО">
            <a:extLst xmlns:a="http://schemas.openxmlformats.org/drawingml/2006/main">
              <a:ext uri="{FF2B5EF4-FFF2-40B4-BE49-F238E27FC236}">
                <a16:creationId xmlns:a16="http://schemas.microsoft.com/office/drawing/2014/main" id="{72A305AC-822E-408C-BF24-FCC372F6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382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ИТМО</a:t>
            </a:r>
          </a:p>
        </p:txBody>
      </p:sp>
      <p:sp>
        <p:nvSpPr>
          <p:cNvPr id="9" name="СПбГЭУ">
            <a:extLst xmlns:a="http://schemas.openxmlformats.org/drawingml/2006/main">
              <a:ext uri="{FF2B5EF4-FFF2-40B4-BE49-F238E27FC236}">
                <a16:creationId xmlns:a16="http://schemas.microsoft.com/office/drawing/2014/main" id="{996360B3-6908-4380-80CD-3F6CEF4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720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82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382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СПбГЭУ</a:t>
            </a:r>
          </a:p>
        </p:txBody>
      </p:sp>
    </p:spTree>
    <p:extLst>
      <p:ext uri="{BB962C8B-B14F-4D97-AF65-F5344CB8AC3E}">
        <p14:creationId xmlns:p14="http://schemas.microsoft.com/office/powerpoint/2010/main" val="1504385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FA194-20EA-4119-92B0-68F3E311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ПРОВЕРИТЬ ПОЛЬЗУ&#10;ВМЕСТЕ С ВУЗОМ">
            <a:extLst xmlns:a="http://schemas.openxmlformats.org/drawingml/2006/main">
              <a:ext uri="{FF2B5EF4-FFF2-40B4-BE49-F238E27FC236}">
                <a16:creationId xmlns:a16="http://schemas.microsoft.com/office/drawing/2014/main" id="{4E9E3070-4E04-4D6A-9EE6-2E26D59F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ЦЕЛИ ПЕРВОГО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ТЕСТА С ВУЗОМ</a:t>
            </a:r>
          </a:p>
        </p:txBody>
      </p:sp>
      <p:sp>
        <p:nvSpPr>
          <p:cNvPr id="5" name="80%">
            <a:extLst xmlns:a="http://schemas.openxmlformats.org/drawingml/2006/main">
              <a:ext uri="{FF2B5EF4-FFF2-40B4-BE49-F238E27FC236}">
                <a16:creationId xmlns:a16="http://schemas.microsoft.com/office/drawing/2014/main" id="{156C68FF-1C60-4743-A05C-3D2A4AFF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76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80%</a:t>
            </a:r>
          </a:p>
        </p:txBody>
      </p:sp>
      <p:sp>
        <p:nvSpPr>
          <p:cNvPr id="6" name="самостоятельного&#10;завершения">
            <a:extLst xmlns:a="http://schemas.openxmlformats.org/drawingml/2006/main">
              <a:ext uri="{FF2B5EF4-FFF2-40B4-BE49-F238E27FC236}">
                <a16:creationId xmlns:a16="http://schemas.microsoft.com/office/drawing/2014/main" id="{51952BEE-B42D-42FC-B839-2B765C2F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33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самостоятельного</a:t>
            </a:r>
          </a:p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завершения</a:t>
            </a:r>
          </a:p>
        </p:txBody>
      </p:sp>
      <p:sp>
        <p:nvSpPr>
          <p:cNvPr id="7" name="0">
            <a:extLst xmlns:a="http://schemas.openxmlformats.org/drawingml/2006/main">
              <a:ext uri="{FF2B5EF4-FFF2-40B4-BE49-F238E27FC236}">
                <a16:creationId xmlns:a16="http://schemas.microsoft.com/office/drawing/2014/main" id="{2E80D1A8-D3F4-42DF-9705-E34AEC02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5752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76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</a:t>
            </a:r>
          </a:p>
        </p:txBody>
      </p:sp>
      <p:sp>
        <p:nvSpPr>
          <p:cNvPr id="8" name="критичных ошибок&#10;в контрольных заданиях">
            <a:extLst xmlns:a="http://schemas.openxmlformats.org/drawingml/2006/main">
              <a:ext uri="{FF2B5EF4-FFF2-40B4-BE49-F238E27FC236}">
                <a16:creationId xmlns:a16="http://schemas.microsoft.com/office/drawing/2014/main" id="{2731E62F-6AAB-4778-89AC-5A2293D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33925"/>
            <a:ext cx="333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критичных ошибок</a:t>
            </a:r>
          </a:p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в контрольных заданиях</a:t>
            </a:r>
          </a:p>
        </p:txBody>
      </p:sp>
      <p:sp>
        <p:nvSpPr>
          <p:cNvPr id="9" name="−30%">
            <a:extLst xmlns:a="http://schemas.openxmlformats.org/drawingml/2006/main">
              <a:ext uri="{FF2B5EF4-FFF2-40B4-BE49-F238E27FC236}">
                <a16:creationId xmlns:a16="http://schemas.microsoft.com/office/drawing/2014/main" id="{C44ACFBA-32DB-40EB-80CF-8898A082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765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765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−30%</a:t>
            </a:r>
          </a:p>
        </p:txBody>
      </p:sp>
      <p:sp>
        <p:nvSpPr>
          <p:cNvPr id="10" name="времени&#10;до корректного плана">
            <a:extLst xmlns:a="http://schemas.openxmlformats.org/drawingml/2006/main">
              <a:ext uri="{FF2B5EF4-FFF2-40B4-BE49-F238E27FC236}">
                <a16:creationId xmlns:a16="http://schemas.microsoft.com/office/drawing/2014/main" id="{0FCCC59C-EE6F-4DF4-A105-09C70173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333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времени</a:t>
            </a:r>
          </a:p>
          <a:p xmlns:a="http://schemas.openxmlformats.org/drawingml/2006/main">
            <a:pPr>
              <a:buNone/>
              <a:defRPr sz="225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25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до корректного плана</a:t>
            </a:r>
          </a:p>
        </p:txBody>
      </p:sp>
    </p:spTree>
    <p:extLst>
      <p:ext uri="{BB962C8B-B14F-4D97-AF65-F5344CB8AC3E}">
        <p14:creationId xmlns:p14="http://schemas.microsoft.com/office/powerpoint/2010/main" val="1372497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58B79-0883-4FCB-B126-31A12C48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4" name="ПЕРВЫЕ 90 ДНЕЙ&#10;С ЛИЧНЫМ ПЛАНОМ">
            <a:extLst xmlns:a="http://schemas.openxmlformats.org/drawingml/2006/main">
              <a:ext uri="{FF2B5EF4-FFF2-40B4-BE49-F238E27FC236}">
                <a16:creationId xmlns:a16="http://schemas.microsoft.com/office/drawing/2014/main" id="{44A7AD2E-726A-48B4-BF79-11FCF210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ПЕРВЫЕ 90 ДНЕЙ</a:t>
            </a:r>
          </a:p>
          <a:p xmlns:a="http://schemas.openxmlformats.org/drawingml/2006/main">
            <a:pPr>
              <a:buNone/>
              <a:defRPr sz="4275" b="1">
                <a:solidFill>
                  <a:srgbClr val="F1ECE2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F1ECE2"/>
                </a:solidFill>
                <a:latin typeface="Tektur"/>
                <a:ea typeface="Tektur"/>
                <a:cs typeface="Tektur"/>
              </a:rPr>
              <a:t>С ЛИЧНЫМ ПЛАНОМ</a:t>
            </a:r>
          </a:p>
        </p:txBody>
      </p:sp>
      <p:sp>
        <p:nvSpPr>
          <p:cNvPr id="5" name="Ищем вуз для проверки правил&#10;и пилота с иностранными студент">
            <a:extLst xmlns:a="http://schemas.openxmlformats.org/drawingml/2006/main">
              <a:ext uri="{FF2B5EF4-FFF2-40B4-BE49-F238E27FC236}">
                <a16:creationId xmlns:a16="http://schemas.microsoft.com/office/drawing/2014/main" id="{9105A166-2D20-4021-807A-C72907E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pPr>
            <a:r>
              <a:rPr sz="2925" b="0">
                <a:solidFill>
                  <a:srgbClr val="F1ECE2"/>
                </a:solidFill>
                <a:latin typeface="PT Sans"/>
                <a:ea typeface="PT Sans"/>
                <a:cs typeface="PT Sans"/>
              </a:rPr>
              <a:t>Ищем вуз для проверки правил</a:t>
            </a:r>
          </a:p>
          <a:p xmlns:a="http://schemas.openxmlformats.org/drawingml/2006/main">
            <a:pPr>
              <a:buNone/>
              <a:defRPr sz="29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pPr>
            <a:r>
              <a:rPr sz="2925" b="0">
                <a:solidFill>
                  <a:srgbClr val="F1ECE2"/>
                </a:solidFill>
                <a:latin typeface="PT Sans"/>
                <a:ea typeface="PT Sans"/>
                <a:cs typeface="PT Sans"/>
              </a:rPr>
              <a:t>и пилота с иностранными студентами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DA654-8EA3-49B3-84C8-59D05568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151B"/>
          </a:solidFill>
          <a:ln xmlns:a="http://schemas.openxmlformats.org/drawingml/2006/main" w="0">
            <a:noFill/>
          </a:ln>
        </p:spPr>
      </p:sp>
      <p:sp>
        <p:nvSpPr>
          <p:cNvPr id="7" name="max.ru/t149_hakaton_max_bot">
            <a:extLst xmlns:a="http://schemas.openxmlformats.org/drawingml/2006/main">
              <a:ext uri="{FF2B5EF4-FFF2-40B4-BE49-F238E27FC236}">
                <a16:creationId xmlns:a16="http://schemas.microsoft.com/office/drawing/2014/main" id="{90F7FF24-ED9A-42D7-81A8-49E58DB0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F1ECE2"/>
                </a:solidFill>
                <a:latin typeface="PT Sans"/>
                <a:ea typeface="PT Sans"/>
                <a:cs typeface="PT Sans"/>
              </a:defRPr>
            </a:pPr>
            <a:r>
              <a:rPr sz="2025" b="0">
                <a:solidFill>
                  <a:srgbClr val="F1ECE2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bfb45cdcc631477b"/>
              </a:rPr>
              <a:t>max.ru/t149_hakaton_max_bot</a:t>
            </a:r>
          </a:p>
        </p:txBody>
      </p:sp>
    </p:spTree>
    <p:extLst>
      <p:ext uri="{BB962C8B-B14F-4D97-AF65-F5344CB8AC3E}">
        <p14:creationId xmlns:p14="http://schemas.microsoft.com/office/powerpoint/2010/main" val="1619669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A78BC-A019-4FC9-B376-F6DF768D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ЧТО ИЗМЕНИЛИ&#10;ПОСЛЕ ОБРАТНОЙ СВЯЗИ">
            <a:extLst xmlns:a="http://schemas.openxmlformats.org/drawingml/2006/main">
              <a:ext uri="{FF2B5EF4-FFF2-40B4-BE49-F238E27FC236}">
                <a16:creationId xmlns:a16="http://schemas.microsoft.com/office/drawing/2014/main" id="{47F24FA2-78E4-40CF-A3CA-08331149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36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ЧТО ИЗМЕНИЛИ</a:t>
            </a:r>
          </a:p>
          <a:p xmlns:a="http://schemas.openxmlformats.org/drawingml/2006/main">
            <a:pPr>
              <a:buNone/>
              <a:defRPr sz="36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36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ПОСЛЕ ОБРАТНОЙ СВЯЗИ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30CD5-13FE-447D-95B3-ED75FAE0008C}"/>
              </a:ext>
            </a:extLst>
          </p:cNvPr>
          <p:cNvGraphicFramePr/>
          <p:nvPr/>
        </p:nvGraphicFramePr>
        <p:xfrm>
          <a:off xmlns:a="http://schemas.openxmlformats.org/drawingml/2006/main" x="609600" y="3048000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936625"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F1ECE2"/>
                          </a:solidFill>
                          <a:latin typeface="PT Sans"/>
                          <a:ea typeface="PT Sans"/>
                          <a:cs typeface="PT Sans"/>
                        </a:rPr>
                        <a:t>Помочь раньше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3A8"/>
                      </a:solidFill>
                      <a:prstDash val="solid"/>
                    </a:lnL>
                    <a:lnR w="9525">
                      <a:solidFill>
                        <a:srgbClr val="B9B3A8"/>
                      </a:solidFill>
                      <a:prstDash val="solid"/>
                    </a:lnR>
                    <a:lnT w="9525">
                      <a:solidFill>
                        <a:srgbClr val="B9B3A8"/>
                      </a:solidFill>
                      <a:prstDash val="solid"/>
                    </a:lnT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151515"/>
                          </a:solidFill>
                          <a:latin typeface="PT Sans"/>
                          <a:ea typeface="PT Sans"/>
                          <a:cs typeface="PT Sans"/>
                        </a:rPr>
                        <a:t>Карточки до въезда уже в коде. Поступление — направление исследования.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3A8"/>
                      </a:solidFill>
                      <a:prstDash val="solid"/>
                    </a:lnR>
                    <a:lnT w="9525">
                      <a:solidFill>
                        <a:srgbClr val="B9B3A8"/>
                      </a:solidFill>
                      <a:prstDash val="solid"/>
                    </a:lnT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F1ECE2"/>
                    </a:solidFill>
                  </a:tcPr>
                </a:tc>
              </a:tr>
              <a:tr h="936625"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F1ECE2"/>
                          </a:solidFill>
                          <a:latin typeface="PT Sans"/>
                          <a:ea typeface="PT Sans"/>
                          <a:cs typeface="PT Sans"/>
                        </a:rPr>
                        <a:t>Обосновать спрос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3A8"/>
                      </a:solidFill>
                      <a:prstDash val="solid"/>
                    </a:lnL>
                    <a:lnR w="9525">
                      <a:solidFill>
                        <a:srgbClr val="B9B3A8"/>
                      </a:solidFill>
                      <a:prstDash val="solid"/>
                    </a:lnR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151515"/>
                          </a:solidFill>
                          <a:latin typeface="PT Sans"/>
                          <a:ea typeface="PT Sans"/>
                          <a:cs typeface="PT Sans"/>
                        </a:rPr>
                        <a:t>Отделили источники проблемы от спроса. Задали проверку гипотезы.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3A8"/>
                      </a:solidFill>
                      <a:prstDash val="solid"/>
                    </a:lnR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F1ECE2"/>
                    </a:solidFill>
                  </a:tcPr>
                </a:tc>
              </a:tr>
              <a:tr h="936625"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F1ECE2"/>
                          </a:solidFill>
                          <a:latin typeface="PT Sans"/>
                          <a:ea typeface="PT Sans"/>
                          <a:cs typeface="PT Sans"/>
                        </a:rPr>
                        <a:t>Изменить формат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B3A8"/>
                      </a:solidFill>
                      <a:prstDash val="solid"/>
                    </a:lnL>
                    <a:lnR w="9525">
                      <a:solidFill>
                        <a:srgbClr val="B9B3A8"/>
                      </a:solidFill>
                      <a:prstDash val="solid"/>
                    </a:lnR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>
                          <a:solidFill>
                            <a:srgbClr val="151515"/>
                          </a:solidFill>
                          <a:latin typeface="PT Sans"/>
                          <a:ea typeface="PT Sans"/>
                          <a:cs typeface="PT Sans"/>
                        </a:rPr>
                        <a:t>Крупные тезисы и показ продукта. Технические подробности — в приложении.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B3A8"/>
                      </a:solidFill>
                      <a:prstDash val="solid"/>
                    </a:lnR>
                    <a:lnB w="9525">
                      <a:solidFill>
                        <a:srgbClr val="B9B3A8"/>
                      </a:solidFill>
                      <a:prstDash val="solid"/>
                    </a:lnB>
                    <a:solidFill>
                      <a:srgbClr val="F1EC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76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B00DE-B3A7-4E95-9E04-4D5BBD35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СЛЕДУЮЩИЙ ЭТАП&#10;ТРЕБУЕТ ИССЛЕДОВАНИЯ">
            <a:extLst xmlns:a="http://schemas.openxmlformats.org/drawingml/2006/main">
              <a:ext uri="{FF2B5EF4-FFF2-40B4-BE49-F238E27FC236}">
                <a16:creationId xmlns:a16="http://schemas.microsoft.com/office/drawing/2014/main" id="{D962D377-B992-4E58-9C91-39AAF9F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СЛЕДУЮЩИЙ ЭТАП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ТРЕБУЕТ ИССЛЕДОВАНИЯ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F7BCE-16BA-49FB-8232-B5B2CEA1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AEC182F4-A3E1-41C3-A902-D97A8A6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01</a:t>
            </a:r>
          </a:p>
        </p:txBody>
      </p:sp>
      <p:sp>
        <p:nvSpPr>
          <p:cNvPr id="7" name="Как абитуриент выбирает вуз?">
            <a:extLst xmlns:a="http://schemas.openxmlformats.org/drawingml/2006/main">
              <a:ext uri="{FF2B5EF4-FFF2-40B4-BE49-F238E27FC236}">
                <a16:creationId xmlns:a16="http://schemas.microsoft.com/office/drawing/2014/main" id="{06CEC0C1-D9E0-4C52-BB75-0290E7B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38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Как абитуриент выбирает вуз?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CD148-66A8-49F6-B64E-3E8E623E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C2571CFB-AAFA-4ED9-8CC7-44721F5C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02</a:t>
            </a:r>
          </a:p>
        </p:txBody>
      </p:sp>
      <p:sp>
        <p:nvSpPr>
          <p:cNvPr id="10" name="Где возникает затруднение при подаче?">
            <a:extLst xmlns:a="http://schemas.openxmlformats.org/drawingml/2006/main">
              <a:ext uri="{FF2B5EF4-FFF2-40B4-BE49-F238E27FC236}">
                <a16:creationId xmlns:a16="http://schemas.microsoft.com/office/drawing/2014/main" id="{07825691-3EFC-4F32-A0C2-1493A0F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0052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Где возникает затруднение при подаче?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3BD0-DC16-406F-8D74-784FB96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111169A7-2C89-4C37-8CAC-44EBF17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03</a:t>
            </a:r>
          </a:p>
        </p:txBody>
      </p:sp>
      <p:sp>
        <p:nvSpPr>
          <p:cNvPr id="13" name="Как он находит поддержку и гранты?">
            <a:extLst xmlns:a="http://schemas.openxmlformats.org/drawingml/2006/main">
              <a:ext uri="{FF2B5EF4-FFF2-40B4-BE49-F238E27FC236}">
                <a16:creationId xmlns:a16="http://schemas.microsoft.com/office/drawing/2014/main" id="{31628834-8C6D-448A-A585-C3564F74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Как он находит поддержку и гранты?</a:t>
            </a:r>
          </a:p>
        </p:txBody>
      </p:sp>
    </p:spTree>
    <p:extLst>
      <p:ext uri="{BB962C8B-B14F-4D97-AF65-F5344CB8AC3E}">
        <p14:creationId xmlns:p14="http://schemas.microsoft.com/office/powerpoint/2010/main" val="557836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E3FFD-BB9B-423E-9247-78258358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ПРАВИЛА В ДАННЫХ.&#10;СОСТОЯНИЕ НА СЕРВЕРЕ.">
            <a:extLst xmlns:a="http://schemas.openxmlformats.org/drawingml/2006/main">
              <a:ext uri="{FF2B5EF4-FFF2-40B4-BE49-F238E27FC236}">
                <a16:creationId xmlns:a16="http://schemas.microsoft.com/office/drawing/2014/main" id="{F30F0DBB-C073-4540-A232-1FFF74F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ПРАВИЛА В ДАННЫХ.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СОСТОЯНИЕ НА СЕРВЕРЕ.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1C642-132A-4B3E-9384-75A8F43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FA96CBE9-32D4-4491-80FD-CF62BAA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01</a:t>
            </a:r>
          </a:p>
        </p:txBody>
      </p:sp>
      <p:sp>
        <p:nvSpPr>
          <p:cNvPr id="7" name="Чат и мини-приложение используют одну сессию">
            <a:extLst xmlns:a="http://schemas.openxmlformats.org/drawingml/2006/main">
              <a:ext uri="{FF2B5EF4-FFF2-40B4-BE49-F238E27FC236}">
                <a16:creationId xmlns:a16="http://schemas.microsoft.com/office/drawing/2014/main" id="{84871F26-F97E-4BF3-B2AF-951117EB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38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Чат и мини-приложение используют одну сессию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1F024-EA68-47C5-B28F-57AF7B3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793E060C-93B5-4515-9FD5-119F46D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02</a:t>
            </a:r>
          </a:p>
        </p:txBody>
      </p:sp>
      <p:sp>
        <p:nvSpPr>
          <p:cNvPr id="10" name="Явный расчёт по правилам, без LLM-решений">
            <a:extLst xmlns:a="http://schemas.openxmlformats.org/drawingml/2006/main">
              <a:ext uri="{FF2B5EF4-FFF2-40B4-BE49-F238E27FC236}">
                <a16:creationId xmlns:a16="http://schemas.microsoft.com/office/drawing/2014/main" id="{13FF9D73-AB64-4B14-A9D5-68E4F2D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0052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Явный расчёт по правилам, без LLM-решений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DED43-494F-44DB-B928-EEC7B84A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8A6AD511-1BC7-4678-AD19-4FF97A2A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03</a:t>
            </a:r>
          </a:p>
        </p:txBody>
      </p:sp>
      <p:sp>
        <p:nvSpPr>
          <p:cNvPr id="13" name="PostgreSQL хранит профиль и очередь сообщений">
            <a:extLst xmlns:a="http://schemas.openxmlformats.org/drawingml/2006/main">
              <a:ext uri="{FF2B5EF4-FFF2-40B4-BE49-F238E27FC236}">
                <a16:creationId xmlns:a16="http://schemas.microsoft.com/office/drawing/2014/main" id="{C3D29CDA-4FE3-4970-87F2-AFE964C7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PostgreSQL хранит профиль и очередь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1703514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EC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DF0A2-1DD0-4970-B0EC-91E74DEC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4" name="ПОДГОТОВКА&#10;К ОФИЦИАЛЬНОМУ ШАГУ">
            <a:extLst xmlns:a="http://schemas.openxmlformats.org/drawingml/2006/main">
              <a:ext uri="{FF2B5EF4-FFF2-40B4-BE49-F238E27FC236}">
                <a16:creationId xmlns:a16="http://schemas.microsoft.com/office/drawing/2014/main" id="{9CC056B6-DE1B-4971-9FA9-5024F4E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ПОДГОТОВКА</a:t>
            </a:r>
          </a:p>
          <a:p xmlns:a="http://schemas.openxmlformats.org/drawingml/2006/main">
            <a:pPr>
              <a:buNone/>
              <a:defRPr sz="4275" b="1">
                <a:solidFill>
                  <a:srgbClr val="151515"/>
                </a:solidFill>
                <a:latin typeface="Tektur"/>
                <a:ea typeface="Tektur"/>
                <a:cs typeface="Tektur"/>
              </a:defRPr>
            </a:pPr>
            <a:r>
              <a:rPr sz="4275" b="1">
                <a:solidFill>
                  <a:srgbClr val="151515"/>
                </a:solidFill>
                <a:latin typeface="Tektur"/>
                <a:ea typeface="Tektur"/>
                <a:cs typeface="Tektur"/>
              </a:rPr>
              <a:t>К ОФИЦИАЛЬНОМУ ШАГУ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F0772-24FF-4AEC-A8A7-7106F511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0DC3F89D-90CE-4154-A206-0D6E7B3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01</a:t>
            </a:r>
          </a:p>
        </p:txBody>
      </p:sp>
      <p:sp>
        <p:nvSpPr>
          <p:cNvPr id="7" name="Демонстрационные профили">
            <a:extLst xmlns:a="http://schemas.openxmlformats.org/drawingml/2006/main">
              <a:ext uri="{FF2B5EF4-FFF2-40B4-BE49-F238E27FC236}">
                <a16:creationId xmlns:a16="http://schemas.microsoft.com/office/drawing/2014/main" id="{80BE2F57-A912-4352-9DCC-F504E78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38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Демонстрационные профили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B11FF-EB3B-4854-BBFA-64989E23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07D54548-E77A-49FC-95FB-2EAFF02D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02</a:t>
            </a:r>
          </a:p>
        </p:txBody>
      </p:sp>
      <p:sp>
        <p:nvSpPr>
          <p:cNvPr id="10" name="Без паспортных сканов и медицинских документов">
            <a:extLst xmlns:a="http://schemas.openxmlformats.org/drawingml/2006/main">
              <a:ext uri="{FF2B5EF4-FFF2-40B4-BE49-F238E27FC236}">
                <a16:creationId xmlns:a16="http://schemas.microsoft.com/office/drawing/2014/main" id="{06F282B5-D988-49B5-B67F-73228F2D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0052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Без паспортных сканов и медицинских документов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FC38F-7AE3-470F-967D-56E8E265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8F6040C3-6E42-48B2-8D44-C093CFC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defPPr>
            <a:lvl1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1pPr>
            <a:lvl2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2pPr>
            <a:lvl3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3pPr>
            <a:lvl4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4pPr>
            <a:lvl5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5pPr>
            <a:lvl6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6pPr>
            <a:lvl7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7pPr>
            <a:lvl8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8pPr>
            <a:lvl9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B3151B"/>
                </a:solidFill>
                <a:latin typeface="Tektur"/>
                <a:ea typeface="Tektur"/>
                <a:cs typeface="Tektur"/>
              </a:defRPr>
            </a:pPr>
            <a:r>
              <a:rPr sz="3300" b="1">
                <a:solidFill>
                  <a:srgbClr val="B3151B"/>
                </a:solidFill>
                <a:latin typeface="Tektur"/>
                <a:ea typeface="Tektur"/>
                <a:cs typeface="Tektur"/>
              </a:rPr>
              <a:t>03</a:t>
            </a:r>
          </a:p>
        </p:txBody>
      </p:sp>
      <p:sp>
        <p:nvSpPr>
          <p:cNvPr id="13" name="Без подачи заявлений в МВД или системы вузов">
            <a:extLst xmlns:a="http://schemas.openxmlformats.org/drawingml/2006/main">
              <a:ext uri="{FF2B5EF4-FFF2-40B4-BE49-F238E27FC236}">
                <a16:creationId xmlns:a16="http://schemas.microsoft.com/office/drawing/2014/main" id="{6AF0CBBA-DB9E-4FB6-AC50-8D6F4F2C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defPPr>
            <a:lvl1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1pPr>
            <a:lvl2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2pPr>
            <a:lvl3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3pPr>
            <a:lvl4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4pPr>
            <a:lvl5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5pPr>
            <a:lvl6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6pPr>
            <a:lvl7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7pPr>
            <a:lvl8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8pPr>
            <a:lvl9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51515"/>
                </a:solidFill>
                <a:latin typeface="PT Sans"/>
                <a:ea typeface="PT Sans"/>
                <a:cs typeface="PT Sans"/>
              </a:defRPr>
            </a:pPr>
            <a:r>
              <a:rPr sz="2400" b="0">
                <a:solidFill>
                  <a:srgbClr val="151515"/>
                </a:solidFill>
                <a:latin typeface="PT Sans"/>
                <a:ea typeface="PT Sans"/>
                <a:cs typeface="PT Sans"/>
              </a:rPr>
              <a:t>Без подачи заявлений в МВД или системы вузов</a:t>
            </a:r>
          </a:p>
        </p:txBody>
      </p:sp>
    </p:spTree>
    <p:extLst>
      <p:ext uri="{BB962C8B-B14F-4D97-AF65-F5344CB8AC3E}">
        <p14:creationId xmlns:p14="http://schemas.microsoft.com/office/powerpoint/2010/main" val="1547729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2026-10-24T12:33:03.0920000Z</dcterms:created>
  <dcterms:modified xsi:type="dcterms:W3CDTF">2026-10-24T12:33:03.0920000Z</dcterms:modified>
</coreProperties>
</file>